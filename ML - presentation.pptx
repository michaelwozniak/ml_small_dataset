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5" r:id="rId12"/>
    <p:sldId id="276" r:id="rId13"/>
    <p:sldId id="277" r:id="rId14"/>
    <p:sldId id="278" r:id="rId15"/>
    <p:sldId id="279" r:id="rId16"/>
  </p:sldIdLst>
  <p:sldSz cx="9144000" cy="5143500" type="screen16x9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ł Woźniak" initials="MW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EFBC54-6E4E-4D23-A787-0618AB7EBC56}" v="1945" dt="2020-04-01T17:40:28.904"/>
    <p1510:client id="{3DFA6B18-D419-4903-AED2-FBDFD62C72E2}" v="2962" dt="2020-03-30T22:35:31.450"/>
    <p1510:client id="{9C30D338-EDB8-4E50-8A3B-2835E566F2B0}" v="369" dt="2020-03-22T17:38:00.987"/>
    <p1510:client id="{CAC49822-778A-4557-BA8D-95C7586ED4A8}" v="250" dt="2020-03-22T17:57:04.876"/>
    <p1510:client id="{E51EC808-69FC-4087-9345-154ABCD16F70}" v="1649" dt="2020-03-24T00:57:15.744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Styl z motywem 1 — Ak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Bez stylu, bez siatk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Styl jasny 1 — Ak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1157" y="-389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9A2281-682E-4129-B612-2E08B3C35EBF}" type="datetimeFigureOut">
              <a:rPr lang="pl-PL" smtClean="0"/>
              <a:pPr/>
              <a:t>03.06.2020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C05F04-84DB-44AF-841C-9A22EDF7FDC0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7741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C05F04-84DB-44AF-841C-9A22EDF7FDC0}" type="slidenum">
              <a:rPr lang="pl-PL" smtClean="0"/>
              <a:pPr/>
              <a:t>4</a:t>
            </a:fld>
            <a:endParaRPr lang="pl-P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C05F04-84DB-44AF-841C-9A22EDF7FDC0}" type="slidenum">
              <a:rPr lang="pl-PL" smtClean="0"/>
              <a:pPr/>
              <a:t>6</a:t>
            </a:fld>
            <a:endParaRPr lang="pl-P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C05F04-84DB-44AF-841C-9A22EDF7FDC0}" type="slidenum">
              <a:rPr lang="pl-PL" smtClean="0"/>
              <a:pPr/>
              <a:t>7</a:t>
            </a:fld>
            <a:endParaRPr lang="pl-P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C05F04-84DB-44AF-841C-9A22EDF7FDC0}" type="slidenum">
              <a:rPr lang="pl-PL" smtClean="0"/>
              <a:pPr/>
              <a:t>8</a:t>
            </a:fld>
            <a:endParaRPr lang="pl-P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C05F04-84DB-44AF-841C-9A22EDF7FDC0}" type="slidenum">
              <a:rPr lang="pl-PL" smtClean="0"/>
              <a:pPr/>
              <a:t>9</a:t>
            </a:fld>
            <a:endParaRPr lang="pl-P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C05F04-84DB-44AF-841C-9A22EDF7FDC0}" type="slidenum">
              <a:rPr lang="pl-PL" smtClean="0"/>
              <a:pPr/>
              <a:t>10</a:t>
            </a:fld>
            <a:endParaRPr lang="pl-P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C05F04-84DB-44AF-841C-9A22EDF7FDC0}" type="slidenum">
              <a:rPr lang="pl-PL" smtClean="0"/>
              <a:pPr/>
              <a:t>11</a:t>
            </a:fld>
            <a:endParaRPr lang="pl-P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C05F04-84DB-44AF-841C-9A22EDF7FDC0}" type="slidenum">
              <a:rPr lang="pl-PL" smtClean="0"/>
              <a:pPr/>
              <a:t>12</a:t>
            </a:fld>
            <a:endParaRPr lang="pl-P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C05F04-84DB-44AF-841C-9A22EDF7FDC0}" type="slidenum">
              <a:rPr lang="pl-PL" smtClean="0"/>
              <a:pPr/>
              <a:t>13</a:t>
            </a:fld>
            <a:endParaRPr lang="pl-P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C05F04-84DB-44AF-841C-9A22EDF7FDC0}" type="slidenum">
              <a:rPr lang="pl-PL" smtClean="0"/>
              <a:pPr/>
              <a:t>14</a:t>
            </a:fld>
            <a:endParaRPr lang="pl-P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C05F04-84DB-44AF-841C-9A22EDF7FDC0}" type="slidenum">
              <a:rPr lang="pl-PL" smtClean="0"/>
              <a:pPr/>
              <a:t>15</a:t>
            </a:fld>
            <a:endParaRPr lang="pl-P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CD6B-EC9B-44E9-9AE1-B518ACEA0432}" type="datetimeFigureOut">
              <a:rPr lang="pl-PL" smtClean="0"/>
              <a:pPr/>
              <a:t>03.06.2020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ECA0-E83E-4ADF-B6E4-15C4A3D4A0A2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CD6B-EC9B-44E9-9AE1-B518ACEA0432}" type="datetimeFigureOut">
              <a:rPr lang="pl-PL" smtClean="0"/>
              <a:pPr/>
              <a:t>03.06.2020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ECA0-E83E-4ADF-B6E4-15C4A3D4A0A2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CD6B-EC9B-44E9-9AE1-B518ACEA0432}" type="datetimeFigureOut">
              <a:rPr lang="pl-PL" smtClean="0"/>
              <a:pPr/>
              <a:t>03.06.2020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ECA0-E83E-4ADF-B6E4-15C4A3D4A0A2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CD6B-EC9B-44E9-9AE1-B518ACEA0432}" type="datetimeFigureOut">
              <a:rPr lang="pl-PL" smtClean="0"/>
              <a:pPr/>
              <a:t>03.06.2020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ECA0-E83E-4ADF-B6E4-15C4A3D4A0A2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CD6B-EC9B-44E9-9AE1-B518ACEA0432}" type="datetimeFigureOut">
              <a:rPr lang="pl-PL" smtClean="0"/>
              <a:pPr/>
              <a:t>03.06.2020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ECA0-E83E-4ADF-B6E4-15C4A3D4A0A2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CD6B-EC9B-44E9-9AE1-B518ACEA0432}" type="datetimeFigureOut">
              <a:rPr lang="pl-PL" smtClean="0"/>
              <a:pPr/>
              <a:t>03.06.2020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ECA0-E83E-4ADF-B6E4-15C4A3D4A0A2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CD6B-EC9B-44E9-9AE1-B518ACEA0432}" type="datetimeFigureOut">
              <a:rPr lang="pl-PL" smtClean="0"/>
              <a:pPr/>
              <a:t>03.06.2020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ECA0-E83E-4ADF-B6E4-15C4A3D4A0A2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CD6B-EC9B-44E9-9AE1-B518ACEA0432}" type="datetimeFigureOut">
              <a:rPr lang="pl-PL" smtClean="0"/>
              <a:pPr/>
              <a:t>03.06.2020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ECA0-E83E-4ADF-B6E4-15C4A3D4A0A2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CD6B-EC9B-44E9-9AE1-B518ACEA0432}" type="datetimeFigureOut">
              <a:rPr lang="pl-PL" smtClean="0"/>
              <a:pPr/>
              <a:t>03.06.2020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ECA0-E83E-4ADF-B6E4-15C4A3D4A0A2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CD6B-EC9B-44E9-9AE1-B518ACEA0432}" type="datetimeFigureOut">
              <a:rPr lang="pl-PL" smtClean="0"/>
              <a:pPr/>
              <a:t>03.06.2020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ECA0-E83E-4ADF-B6E4-15C4A3D4A0A2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CD6B-EC9B-44E9-9AE1-B518ACEA0432}" type="datetimeFigureOut">
              <a:rPr lang="pl-PL" smtClean="0"/>
              <a:pPr/>
              <a:t>03.06.2020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ECA0-E83E-4ADF-B6E4-15C4A3D4A0A2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0CD6B-EC9B-44E9-9AE1-B518ACEA0432}" type="datetimeFigureOut">
              <a:rPr lang="pl-PL" smtClean="0"/>
              <a:pPr/>
              <a:t>03.06.2020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3ECA0-E83E-4ADF-B6E4-15C4A3D4A0A2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714348" y="1071552"/>
            <a:ext cx="7772400" cy="2259815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Forecasting tax avoidance rates by international listed companies</a:t>
            </a:r>
            <a:r>
              <a:rPr lang="pl-PL" sz="2800" dirty="0">
                <a:latin typeface="Segoe UI Light" pitchFamily="34" charset="0"/>
                <a:cs typeface="Segoe UI Light" pitchFamily="34" charset="0"/>
              </a:rPr>
              <a:t/>
            </a:r>
            <a:br>
              <a:rPr lang="pl-PL" sz="2800" dirty="0">
                <a:latin typeface="Segoe UI Light" pitchFamily="34" charset="0"/>
                <a:cs typeface="Segoe UI Light" pitchFamily="34" charset="0"/>
              </a:rPr>
            </a:br>
            <a:r>
              <a:rPr lang="pl-PL" sz="2400" dirty="0">
                <a:latin typeface="Segoe UI Light" pitchFamily="34" charset="0"/>
                <a:cs typeface="Segoe UI Light" pitchFamily="34" charset="0"/>
              </a:rPr>
              <a:t>- </a:t>
            </a:r>
            <a:r>
              <a:rPr lang="pl-PL" sz="2400" dirty="0" err="1" smtClean="0">
                <a:latin typeface="Segoe UI Light" pitchFamily="34" charset="0"/>
                <a:cs typeface="Segoe UI Light" pitchFamily="34" charset="0"/>
              </a:rPr>
              <a:t>using</a:t>
            </a:r>
            <a:r>
              <a:rPr lang="pl-PL" sz="2400" dirty="0" smtClean="0">
                <a:latin typeface="Segoe UI Light" pitchFamily="34" charset="0"/>
                <a:cs typeface="Segoe UI Light" pitchFamily="34" charset="0"/>
              </a:rPr>
              <a:t> </a:t>
            </a:r>
            <a:r>
              <a:rPr lang="pl-PL" sz="2400" dirty="0" err="1" smtClean="0">
                <a:latin typeface="Segoe UI Light" pitchFamily="34" charset="0"/>
                <a:cs typeface="Segoe UI Light" pitchFamily="34" charset="0"/>
              </a:rPr>
              <a:t>shallow</a:t>
            </a:r>
            <a:r>
              <a:rPr lang="pl-PL" sz="2400" dirty="0" smtClean="0">
                <a:latin typeface="Segoe UI Light" pitchFamily="34" charset="0"/>
                <a:cs typeface="Segoe UI Light" pitchFamily="34" charset="0"/>
              </a:rPr>
              <a:t> </a:t>
            </a:r>
            <a:r>
              <a:rPr lang="pl-PL" sz="2400" dirty="0" err="1" smtClean="0">
                <a:latin typeface="Segoe UI Light" pitchFamily="34" charset="0"/>
                <a:cs typeface="Segoe UI Light" pitchFamily="34" charset="0"/>
              </a:rPr>
              <a:t>Machine</a:t>
            </a:r>
            <a:r>
              <a:rPr lang="pl-PL" sz="2400" dirty="0" smtClean="0">
                <a:latin typeface="Segoe UI Light" pitchFamily="34" charset="0"/>
                <a:cs typeface="Segoe UI Light" pitchFamily="34" charset="0"/>
              </a:rPr>
              <a:t> Learning </a:t>
            </a:r>
            <a:r>
              <a:rPr lang="pl-PL" sz="2400" dirty="0" err="1" smtClean="0">
                <a:latin typeface="Segoe UI Light" pitchFamily="34" charset="0"/>
                <a:cs typeface="Segoe UI Light" pitchFamily="34" charset="0"/>
              </a:rPr>
              <a:t>techniques</a:t>
            </a:r>
            <a:endParaRPr lang="pl-PL" sz="2400" dirty="0">
              <a:latin typeface="Segoe UI Light" pitchFamily="34" charset="0"/>
              <a:cs typeface="Segoe UI Light" pitchFamily="34" charset="0"/>
            </a:endParaRP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800108"/>
          </a:xfrm>
        </p:spPr>
        <p:txBody>
          <a:bodyPr>
            <a:normAutofit/>
          </a:bodyPr>
          <a:lstStyle/>
          <a:p>
            <a:endParaRPr lang="pl-PL" sz="1600" dirty="0" smtClean="0">
              <a:solidFill>
                <a:schemeClr val="tx1"/>
              </a:solidFill>
              <a:latin typeface="Segoe UI Light" pitchFamily="34" charset="0"/>
              <a:cs typeface="Segoe UI Light" pitchFamily="34" charset="0"/>
            </a:endParaRPr>
          </a:p>
          <a:p>
            <a:r>
              <a:rPr lang="pl-PL" sz="1400" dirty="0" err="1" smtClean="0">
                <a:solidFill>
                  <a:schemeClr val="tx1"/>
                </a:solidFill>
                <a:latin typeface="Segoe UI Light" pitchFamily="34" charset="0"/>
                <a:cs typeface="Segoe UI Light" pitchFamily="34" charset="0"/>
              </a:rPr>
              <a:t>Authors</a:t>
            </a:r>
            <a:r>
              <a:rPr lang="pl-PL" sz="1400" dirty="0" smtClean="0">
                <a:solidFill>
                  <a:schemeClr val="tx1"/>
                </a:solidFill>
                <a:latin typeface="Segoe UI Light" pitchFamily="34" charset="0"/>
                <a:cs typeface="Segoe UI Light" pitchFamily="34" charset="0"/>
              </a:rPr>
              <a:t>: </a:t>
            </a:r>
            <a:r>
              <a:rPr lang="pl-PL" sz="1400" dirty="0">
                <a:solidFill>
                  <a:schemeClr val="tx1"/>
                </a:solidFill>
                <a:latin typeface="Segoe UI Light" pitchFamily="34" charset="0"/>
                <a:cs typeface="Segoe UI Light" pitchFamily="34" charset="0"/>
              </a:rPr>
              <a:t>Michał </a:t>
            </a:r>
            <a:r>
              <a:rPr lang="pl-PL" sz="1400" dirty="0" smtClean="0">
                <a:solidFill>
                  <a:schemeClr val="tx1"/>
                </a:solidFill>
                <a:latin typeface="Segoe UI Light" pitchFamily="34" charset="0"/>
                <a:cs typeface="Segoe UI Light" pitchFamily="34" charset="0"/>
              </a:rPr>
              <a:t>Woźniak &amp; Michał Wrzesiński</a:t>
            </a:r>
            <a:endParaRPr lang="pl-PL" sz="1400" dirty="0">
              <a:solidFill>
                <a:schemeClr val="tx1"/>
              </a:solidFill>
              <a:latin typeface="Segoe UI Light" pitchFamily="34" charset="0"/>
              <a:cs typeface="Segoe UI Light" pitchFamily="34" charset="0"/>
            </a:endParaRPr>
          </a:p>
        </p:txBody>
      </p:sp>
      <p:pic>
        <p:nvPicPr>
          <p:cNvPr id="1026" name="Picture 2" descr="C:\Users\wozni\Desktop\_WNE_UW_JUBILEUSZ_LOGO_EN-kopi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43570" y="4278786"/>
            <a:ext cx="3500430" cy="8647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8ED3F5D5-D987-4CD0-A25C-52F18EDA9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l-PL" sz="2500" b="1" dirty="0">
                <a:ea typeface="+mj-lt"/>
                <a:cs typeface="+mj-lt"/>
              </a:rPr>
              <a:t>Agenda</a:t>
            </a:r>
            <a:endParaRPr lang="pl-PL" sz="2500" dirty="0">
              <a:cs typeface="Segoe UI Light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="" xmlns:a16="http://schemas.microsoft.com/office/drawing/2014/main" id="{A54389CF-6B05-42C9-AE4D-81B7D4B9B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596" y="1000114"/>
            <a:ext cx="8229600" cy="39290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pl-PL" sz="1200" b="1" dirty="0" smtClean="0">
                <a:cs typeface="Segoe UI Light"/>
              </a:rPr>
              <a:t> </a:t>
            </a:r>
            <a:r>
              <a:rPr lang="pl-PL" sz="1200" b="1" dirty="0" err="1" smtClean="0">
                <a:cs typeface="Segoe UI Light"/>
              </a:rPr>
              <a:t>Introduction</a:t>
            </a:r>
            <a:r>
              <a:rPr lang="pl-PL" sz="1200" b="1" dirty="0" smtClean="0">
                <a:cs typeface="Segoe UI Light"/>
              </a:rPr>
              <a:t> - problem </a:t>
            </a:r>
            <a:r>
              <a:rPr lang="pl-PL" sz="1200" b="1" dirty="0" err="1" smtClean="0">
                <a:cs typeface="Segoe UI Light"/>
              </a:rPr>
              <a:t>description</a:t>
            </a:r>
            <a:endParaRPr lang="pl-PL" sz="1200" b="1" dirty="0" smtClean="0">
              <a:cs typeface="Segoe UI Light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pl-PL" sz="1200" b="1" dirty="0" smtClean="0">
                <a:cs typeface="Segoe UI Light"/>
              </a:rPr>
              <a:t> Materials and </a:t>
            </a:r>
            <a:r>
              <a:rPr lang="pl-PL" sz="1200" b="1" dirty="0" err="1" smtClean="0">
                <a:cs typeface="Segoe UI Light"/>
              </a:rPr>
              <a:t>methods</a:t>
            </a:r>
            <a:endParaRPr lang="pl-PL" sz="1200" b="1" dirty="0" smtClean="0">
              <a:cs typeface="Segoe UI Light"/>
            </a:endParaRPr>
          </a:p>
          <a:p>
            <a:pPr marL="288000" lvl="1" indent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l-PL" sz="1200" dirty="0" smtClean="0">
                <a:cs typeface="Segoe UI Light"/>
              </a:rPr>
              <a:t> </a:t>
            </a:r>
            <a:r>
              <a:rPr lang="pl-PL" sz="1200" dirty="0" err="1" smtClean="0">
                <a:cs typeface="Segoe UI Light"/>
              </a:rPr>
              <a:t>Dataset</a:t>
            </a:r>
            <a:r>
              <a:rPr lang="pl-PL" sz="1200" dirty="0" smtClean="0">
                <a:cs typeface="Segoe UI Light"/>
              </a:rPr>
              <a:t> </a:t>
            </a:r>
            <a:r>
              <a:rPr lang="pl-PL" sz="1200" dirty="0" err="1" smtClean="0">
                <a:cs typeface="Segoe UI Light"/>
              </a:rPr>
              <a:t>description</a:t>
            </a:r>
            <a:endParaRPr lang="pl-PL" sz="1200" dirty="0" smtClean="0">
              <a:cs typeface="Segoe UI Light"/>
            </a:endParaRPr>
          </a:p>
          <a:p>
            <a:pPr marL="288000" lvl="1" indent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l-PL" sz="1200" dirty="0" smtClean="0">
                <a:cs typeface="Segoe UI Light"/>
              </a:rPr>
              <a:t> General </a:t>
            </a:r>
            <a:r>
              <a:rPr lang="pl-PL" sz="1200" dirty="0" err="1" smtClean="0">
                <a:cs typeface="Segoe UI Light"/>
              </a:rPr>
              <a:t>methodology</a:t>
            </a:r>
            <a:r>
              <a:rPr lang="pl-PL" sz="1200" dirty="0" smtClean="0">
                <a:cs typeface="Segoe UI Light"/>
              </a:rPr>
              <a:t> of </a:t>
            </a:r>
            <a:r>
              <a:rPr lang="pl-PL" sz="1200" dirty="0" err="1" smtClean="0">
                <a:cs typeface="Segoe UI Light"/>
              </a:rPr>
              <a:t>research</a:t>
            </a:r>
            <a:endParaRPr lang="pl-PL" sz="1200" dirty="0" smtClean="0">
              <a:cs typeface="Segoe UI Light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pl-PL" sz="1200" b="1" dirty="0" smtClean="0">
                <a:cs typeface="Segoe UI Light"/>
              </a:rPr>
              <a:t> </a:t>
            </a:r>
            <a:r>
              <a:rPr lang="pl-PL" sz="1200" b="1" dirty="0" err="1" smtClean="0">
                <a:cs typeface="Segoe UI Light"/>
              </a:rPr>
              <a:t>Machine</a:t>
            </a:r>
            <a:r>
              <a:rPr lang="pl-PL" sz="1200" b="1" dirty="0" smtClean="0">
                <a:cs typeface="Segoe UI Light"/>
              </a:rPr>
              <a:t> learning </a:t>
            </a:r>
            <a:r>
              <a:rPr lang="pl-PL" sz="1200" b="1" dirty="0" err="1" smtClean="0">
                <a:cs typeface="Segoe UI Light"/>
              </a:rPr>
              <a:t>journey</a:t>
            </a:r>
            <a:endParaRPr lang="pl-PL" sz="1200" b="1" dirty="0" smtClean="0">
              <a:cs typeface="Segoe UI Light"/>
            </a:endParaRPr>
          </a:p>
          <a:p>
            <a:pPr marL="288000" lvl="1" indent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l-PL" sz="1200" dirty="0" smtClean="0">
                <a:cs typeface="Segoe UI Light"/>
              </a:rPr>
              <a:t> </a:t>
            </a:r>
            <a:r>
              <a:rPr lang="pl-PL" sz="1200" dirty="0" err="1"/>
              <a:t>Exploratory</a:t>
            </a:r>
            <a:r>
              <a:rPr lang="pl-PL" sz="1200" dirty="0" smtClean="0">
                <a:cs typeface="Segoe UI Light"/>
              </a:rPr>
              <a:t> </a:t>
            </a:r>
            <a:r>
              <a:rPr lang="pl-PL" sz="1200" dirty="0" smtClean="0">
                <a:cs typeface="Segoe UI Light"/>
              </a:rPr>
              <a:t>Data Analysis</a:t>
            </a:r>
          </a:p>
          <a:p>
            <a:pPr marL="288000" lvl="1" indent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l-PL" sz="1200" dirty="0" smtClean="0">
                <a:cs typeface="Segoe UI Light"/>
              </a:rPr>
              <a:t> </a:t>
            </a:r>
            <a:r>
              <a:rPr lang="pl-PL" sz="1200" dirty="0" err="1" smtClean="0">
                <a:cs typeface="Segoe UI Light"/>
              </a:rPr>
              <a:t>Feature</a:t>
            </a:r>
            <a:r>
              <a:rPr lang="pl-PL" sz="1200" dirty="0" smtClean="0">
                <a:cs typeface="Segoe UI Light"/>
              </a:rPr>
              <a:t> engineering</a:t>
            </a:r>
          </a:p>
          <a:p>
            <a:pPr marL="288000" lvl="1" indent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l-PL" sz="1200" dirty="0" smtClean="0">
                <a:cs typeface="Segoe UI Light"/>
              </a:rPr>
              <a:t> </a:t>
            </a:r>
            <a:r>
              <a:rPr lang="pl-PL" sz="1200" dirty="0" err="1" smtClean="0">
                <a:cs typeface="Segoe UI Light"/>
              </a:rPr>
              <a:t>Feature</a:t>
            </a:r>
            <a:r>
              <a:rPr lang="pl-PL" sz="1200" dirty="0" smtClean="0">
                <a:cs typeface="Segoe UI Light"/>
              </a:rPr>
              <a:t> </a:t>
            </a:r>
            <a:r>
              <a:rPr lang="pl-PL" sz="1200" dirty="0" err="1" smtClean="0">
                <a:cs typeface="Segoe UI Light"/>
              </a:rPr>
              <a:t>selection</a:t>
            </a:r>
            <a:endParaRPr lang="pl-PL" sz="1200" dirty="0" smtClean="0">
              <a:cs typeface="Segoe UI Light"/>
            </a:endParaRPr>
          </a:p>
          <a:p>
            <a:pPr marL="288000" lvl="1" indent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l-PL" sz="1200" dirty="0" smtClean="0">
                <a:cs typeface="Segoe UI Light"/>
              </a:rPr>
              <a:t> </a:t>
            </a:r>
            <a:r>
              <a:rPr lang="pl-PL" sz="1200" dirty="0" err="1" smtClean="0">
                <a:cs typeface="Segoe UI Light"/>
              </a:rPr>
              <a:t>Models</a:t>
            </a:r>
            <a:r>
              <a:rPr lang="pl-PL" sz="1200" dirty="0" smtClean="0">
                <a:cs typeface="Segoe UI Light"/>
              </a:rPr>
              <a:t>: </a:t>
            </a:r>
            <a:r>
              <a:rPr lang="pl-PL" sz="1200" dirty="0" err="1" smtClean="0">
                <a:cs typeface="Segoe UI Light"/>
              </a:rPr>
              <a:t>Naive</a:t>
            </a:r>
            <a:r>
              <a:rPr lang="pl-PL" sz="1200" dirty="0" smtClean="0">
                <a:cs typeface="Segoe UI Light"/>
              </a:rPr>
              <a:t> model, OLS model, ARMA model, ARDL model, KNN model, SVR model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pl-PL" sz="1200" b="1" dirty="0" smtClean="0">
                <a:cs typeface="Segoe UI Light"/>
              </a:rPr>
              <a:t> </a:t>
            </a:r>
            <a:r>
              <a:rPr lang="pl-PL" sz="1200" b="1" dirty="0" err="1" smtClean="0">
                <a:cs typeface="Segoe UI Light"/>
              </a:rPr>
              <a:t>Final</a:t>
            </a:r>
            <a:r>
              <a:rPr lang="pl-PL" sz="1200" b="1" dirty="0" smtClean="0">
                <a:cs typeface="Segoe UI Light"/>
              </a:rPr>
              <a:t> </a:t>
            </a:r>
            <a:r>
              <a:rPr lang="pl-PL" sz="1200" b="1" dirty="0" err="1" smtClean="0">
                <a:cs typeface="Segoe UI Light"/>
              </a:rPr>
              <a:t>results</a:t>
            </a:r>
            <a:r>
              <a:rPr lang="pl-PL" sz="1200" b="1" dirty="0" smtClean="0">
                <a:cs typeface="Segoe UI Light"/>
              </a:rPr>
              <a:t> and </a:t>
            </a:r>
            <a:r>
              <a:rPr lang="pl-PL" sz="1200" b="1" dirty="0" err="1" smtClean="0">
                <a:cs typeface="Segoe UI Light"/>
              </a:rPr>
              <a:t>conclusions</a:t>
            </a:r>
            <a:endParaRPr lang="pl-PL" sz="1200" b="1" dirty="0"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235668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8ED3F5D5-D987-4CD0-A25C-52F18EDA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58" y="71420"/>
            <a:ext cx="8229600" cy="85725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</a:pPr>
            <a:r>
              <a:rPr lang="pl-PL" sz="2800" b="1" dirty="0" smtClean="0">
                <a:cs typeface="Segoe UI Light"/>
              </a:rPr>
              <a:t> </a:t>
            </a:r>
            <a:r>
              <a:rPr lang="pl-PL" sz="2800" b="1" dirty="0" err="1" smtClean="0">
                <a:cs typeface="Segoe UI Light"/>
              </a:rPr>
              <a:t>Introduction</a:t>
            </a:r>
            <a:r>
              <a:rPr lang="pl-PL" sz="2800" b="1" dirty="0" smtClean="0">
                <a:cs typeface="Segoe UI Light"/>
              </a:rPr>
              <a:t> - problem </a:t>
            </a:r>
            <a:r>
              <a:rPr lang="pl-PL" sz="2800" b="1" dirty="0" err="1" smtClean="0">
                <a:cs typeface="Segoe UI Light"/>
              </a:rPr>
              <a:t>description</a:t>
            </a:r>
            <a:endParaRPr lang="pl-PL" sz="2800" b="1" dirty="0" smtClean="0">
              <a:cs typeface="Segoe UI Light"/>
            </a:endParaRPr>
          </a:p>
        </p:txBody>
      </p:sp>
      <p:sp>
        <p:nvSpPr>
          <p:cNvPr id="4" name="pole tekstowe 3"/>
          <p:cNvSpPr txBox="1"/>
          <p:nvPr/>
        </p:nvSpPr>
        <p:spPr>
          <a:xfrm>
            <a:off x="428596" y="928677"/>
            <a:ext cx="821537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200" b="1" dirty="0" err="1" smtClean="0"/>
              <a:t>Research</a:t>
            </a:r>
            <a:r>
              <a:rPr lang="pl-PL" sz="1200" b="1" dirty="0" smtClean="0"/>
              <a:t> </a:t>
            </a:r>
            <a:r>
              <a:rPr lang="pl-PL" sz="1200" b="1" dirty="0" err="1" smtClean="0"/>
              <a:t>goal</a:t>
            </a:r>
            <a:endParaRPr lang="pl-PL" sz="1200" b="1" dirty="0" smtClean="0"/>
          </a:p>
          <a:p>
            <a:pPr algn="just"/>
            <a:r>
              <a:rPr lang="en-US" sz="1200" dirty="0" smtClean="0"/>
              <a:t>In this study, we will check whether we can forecast for one year ahead the level of tax avoidance by a group of companies listed on stock exchanges using shallow Machine Learning models.</a:t>
            </a:r>
            <a:endParaRPr lang="pl-PL" sz="1200" dirty="0" smtClean="0"/>
          </a:p>
          <a:p>
            <a:pPr algn="just"/>
            <a:endParaRPr lang="pl-PL" sz="1200" b="1" dirty="0" smtClean="0"/>
          </a:p>
          <a:p>
            <a:pPr algn="just"/>
            <a:r>
              <a:rPr lang="pl-PL" sz="1200" b="1" dirty="0" err="1" smtClean="0"/>
              <a:t>Tax</a:t>
            </a:r>
            <a:r>
              <a:rPr lang="pl-PL" sz="1200" b="1" dirty="0" smtClean="0"/>
              <a:t> </a:t>
            </a:r>
            <a:r>
              <a:rPr lang="pl-PL" sz="1200" b="1" dirty="0" err="1" smtClean="0"/>
              <a:t>avoidance</a:t>
            </a:r>
            <a:r>
              <a:rPr lang="pl-PL" sz="1200" b="1" dirty="0" smtClean="0"/>
              <a:t> </a:t>
            </a:r>
            <a:r>
              <a:rPr lang="pl-PL" sz="1200" b="1" dirty="0" err="1" smtClean="0"/>
              <a:t>definition</a:t>
            </a:r>
            <a:endParaRPr lang="pl-PL" sz="1200" b="1" dirty="0" smtClean="0"/>
          </a:p>
          <a:p>
            <a:pPr algn="just"/>
            <a:r>
              <a:rPr lang="pl-PL" sz="1200" dirty="0" smtClean="0"/>
              <a:t>T</a:t>
            </a:r>
            <a:r>
              <a:rPr lang="en-US" sz="1200" dirty="0" smtClean="0"/>
              <a:t>ax avoidance consists in carrying out economic activities in such a way that they are</a:t>
            </a:r>
            <a:r>
              <a:rPr lang="pl-PL" sz="1200" dirty="0" smtClean="0"/>
              <a:t> </a:t>
            </a:r>
            <a:r>
              <a:rPr lang="en-US" sz="1200" dirty="0" smtClean="0"/>
              <a:t>understood in a different way from tax regulations, in order to reduce the tax burden</a:t>
            </a:r>
            <a:r>
              <a:rPr lang="pl-PL" sz="1200" dirty="0" smtClean="0"/>
              <a:t>.</a:t>
            </a:r>
          </a:p>
          <a:p>
            <a:pPr algn="just"/>
            <a:endParaRPr lang="pl-PL" sz="1200" dirty="0" smtClean="0"/>
          </a:p>
          <a:p>
            <a:pPr algn="just"/>
            <a:r>
              <a:rPr lang="pl-PL" sz="1200" b="1" dirty="0" err="1" smtClean="0"/>
              <a:t>Importance</a:t>
            </a:r>
            <a:r>
              <a:rPr lang="pl-PL" sz="1200" b="1" dirty="0" smtClean="0"/>
              <a:t> of </a:t>
            </a:r>
            <a:r>
              <a:rPr lang="pl-PL" sz="1200" b="1" dirty="0" err="1" smtClean="0"/>
              <a:t>research</a:t>
            </a:r>
            <a:endParaRPr lang="pl-PL" sz="1200" b="1" dirty="0" smtClean="0"/>
          </a:p>
          <a:p>
            <a:pPr algn="just"/>
            <a:r>
              <a:rPr lang="en-US" sz="1200" dirty="0" smtClean="0"/>
              <a:t>Forecasting such a phenomenon may be particularly important for the tax authorities and legislators. It helps to create rules that would fight against tax avoidance</a:t>
            </a:r>
            <a:r>
              <a:rPr lang="pl-PL" sz="1200" dirty="0" smtClean="0"/>
              <a:t>.</a:t>
            </a:r>
          </a:p>
          <a:p>
            <a:pPr algn="just"/>
            <a:endParaRPr lang="pl-PL" sz="1200" b="1" dirty="0" smtClean="0"/>
          </a:p>
          <a:p>
            <a:pPr algn="just"/>
            <a:r>
              <a:rPr lang="pl-PL" sz="1200" b="1" dirty="0" err="1" smtClean="0"/>
              <a:t>Tax</a:t>
            </a:r>
            <a:r>
              <a:rPr lang="pl-PL" sz="1200" b="1" dirty="0" smtClean="0"/>
              <a:t> </a:t>
            </a:r>
            <a:r>
              <a:rPr lang="pl-PL" sz="1200" b="1" dirty="0" err="1" smtClean="0"/>
              <a:t>avoidance</a:t>
            </a:r>
            <a:r>
              <a:rPr lang="pl-PL" sz="1200" b="1" dirty="0" smtClean="0"/>
              <a:t> </a:t>
            </a:r>
            <a:r>
              <a:rPr lang="pl-PL" sz="1200" b="1" dirty="0" err="1" smtClean="0"/>
              <a:t>metric</a:t>
            </a:r>
            <a:endParaRPr lang="pl-PL" sz="1200" b="1" dirty="0" smtClean="0"/>
          </a:p>
          <a:p>
            <a:pPr algn="just"/>
            <a:r>
              <a:rPr lang="pl-PL" sz="1200" dirty="0" err="1" smtClean="0">
                <a:cs typeface="Segoe UI Light"/>
              </a:rPr>
              <a:t>The</a:t>
            </a:r>
            <a:r>
              <a:rPr lang="pl-PL" sz="1200" dirty="0" smtClean="0">
                <a:cs typeface="Segoe UI Light"/>
              </a:rPr>
              <a:t> most popular one </a:t>
            </a:r>
            <a:r>
              <a:rPr lang="pl-PL" sz="1200" dirty="0" err="1" smtClean="0">
                <a:cs typeface="Segoe UI Light"/>
              </a:rPr>
              <a:t>is</a:t>
            </a:r>
            <a:r>
              <a:rPr lang="pl-PL" sz="1200" dirty="0" smtClean="0">
                <a:cs typeface="Segoe UI Light"/>
              </a:rPr>
              <a:t> </a:t>
            </a:r>
            <a:r>
              <a:rPr lang="pl-PL" sz="1200" dirty="0" err="1" smtClean="0"/>
              <a:t>Effective</a:t>
            </a:r>
            <a:r>
              <a:rPr lang="pl-PL" sz="1200" dirty="0" smtClean="0"/>
              <a:t> </a:t>
            </a:r>
            <a:r>
              <a:rPr lang="pl-PL" sz="1200" dirty="0" err="1" smtClean="0"/>
              <a:t>Tax</a:t>
            </a:r>
            <a:r>
              <a:rPr lang="pl-PL" sz="1200" dirty="0" smtClean="0"/>
              <a:t> </a:t>
            </a:r>
            <a:r>
              <a:rPr lang="pl-PL" sz="1200" dirty="0" err="1" smtClean="0"/>
              <a:t>Rate</a:t>
            </a:r>
            <a:r>
              <a:rPr lang="pl-PL" sz="1200" dirty="0" smtClean="0"/>
              <a:t> 			. </a:t>
            </a:r>
            <a:r>
              <a:rPr lang="en-US" sz="1200" dirty="0" smtClean="0"/>
              <a:t>Due to this formula, ETR has values in the range [0,1].</a:t>
            </a:r>
            <a:r>
              <a:rPr lang="pl-PL" sz="1200" dirty="0" smtClean="0"/>
              <a:t> </a:t>
            </a:r>
            <a:r>
              <a:rPr lang="en-US" sz="1200" dirty="0" smtClean="0"/>
              <a:t>The lower the ETR, the more likely the company is to avoid taxation.</a:t>
            </a:r>
            <a:endParaRPr lang="pl-PL" sz="1200" dirty="0" smtClean="0"/>
          </a:p>
          <a:p>
            <a:pPr algn="just"/>
            <a:endParaRPr lang="pl-PL" sz="1200" dirty="0" smtClean="0">
              <a:cs typeface="Segoe UI Light"/>
            </a:endParaRPr>
          </a:p>
          <a:p>
            <a:pPr algn="just"/>
            <a:r>
              <a:rPr lang="en-US" sz="1200" b="1" dirty="0" smtClean="0">
                <a:cs typeface="Segoe UI Light"/>
              </a:rPr>
              <a:t>Class of the problem and evaluation metrics of </a:t>
            </a:r>
            <a:r>
              <a:rPr lang="pl-PL" sz="1200" b="1" dirty="0" err="1" smtClean="0">
                <a:cs typeface="Segoe UI Light"/>
              </a:rPr>
              <a:t>models</a:t>
            </a:r>
            <a:endParaRPr lang="pl-PL" sz="1200" b="1" dirty="0" smtClean="0">
              <a:cs typeface="Segoe UI Light"/>
            </a:endParaRPr>
          </a:p>
          <a:p>
            <a:pPr algn="just"/>
            <a:r>
              <a:rPr lang="pl-PL" sz="1200" dirty="0" err="1" smtClean="0">
                <a:cs typeface="Segoe UI Light"/>
              </a:rPr>
              <a:t>Based</a:t>
            </a:r>
            <a:r>
              <a:rPr lang="pl-PL" sz="1200" dirty="0" smtClean="0">
                <a:cs typeface="Segoe UI Light"/>
              </a:rPr>
              <a:t> on </a:t>
            </a:r>
            <a:r>
              <a:rPr lang="pl-PL" sz="1200" dirty="0" err="1" smtClean="0">
                <a:cs typeface="Segoe UI Light"/>
              </a:rPr>
              <a:t>research</a:t>
            </a:r>
            <a:r>
              <a:rPr lang="pl-PL" sz="1200" dirty="0" smtClean="0">
                <a:cs typeface="Segoe UI Light"/>
              </a:rPr>
              <a:t> </a:t>
            </a:r>
            <a:r>
              <a:rPr lang="pl-PL" sz="1200" dirty="0" err="1" smtClean="0">
                <a:cs typeface="Segoe UI Light"/>
              </a:rPr>
              <a:t>goal</a:t>
            </a:r>
            <a:r>
              <a:rPr lang="pl-PL" sz="1200" dirty="0" smtClean="0">
                <a:cs typeface="Segoe UI Light"/>
              </a:rPr>
              <a:t> t</a:t>
            </a:r>
            <a:r>
              <a:rPr lang="en-US" sz="1200" dirty="0" smtClean="0"/>
              <a:t>his problem is a classic panel problem (many companies and many years).</a:t>
            </a:r>
            <a:r>
              <a:rPr lang="pl-PL" sz="1200" dirty="0" smtClean="0"/>
              <a:t> To </a:t>
            </a:r>
            <a:r>
              <a:rPr lang="pl-PL" sz="1200" dirty="0" err="1" smtClean="0"/>
              <a:t>evaluate</a:t>
            </a:r>
            <a:r>
              <a:rPr lang="pl-PL" sz="1200" dirty="0" smtClean="0"/>
              <a:t> </a:t>
            </a:r>
            <a:r>
              <a:rPr lang="pl-PL" sz="1200" dirty="0" err="1" smtClean="0"/>
              <a:t>our</a:t>
            </a:r>
            <a:r>
              <a:rPr lang="pl-PL" sz="1200" dirty="0" smtClean="0"/>
              <a:t> products we </a:t>
            </a:r>
            <a:r>
              <a:rPr lang="pl-PL" sz="1200" dirty="0" err="1" smtClean="0"/>
              <a:t>chose</a:t>
            </a:r>
            <a:r>
              <a:rPr lang="pl-PL" sz="1200" dirty="0" smtClean="0"/>
              <a:t> </a:t>
            </a:r>
            <a:r>
              <a:rPr lang="pl-PL" sz="1200" dirty="0" err="1" smtClean="0"/>
              <a:t>metrics</a:t>
            </a:r>
            <a:r>
              <a:rPr lang="pl-PL" sz="1200" dirty="0" smtClean="0"/>
              <a:t> </a:t>
            </a:r>
            <a:r>
              <a:rPr lang="pl-PL" sz="1200" dirty="0" err="1" smtClean="0"/>
              <a:t>like</a:t>
            </a:r>
            <a:r>
              <a:rPr lang="pl-PL" sz="1200" dirty="0" smtClean="0"/>
              <a:t>: </a:t>
            </a:r>
            <a:r>
              <a:rPr lang="en-US" sz="1200" dirty="0" smtClean="0"/>
              <a:t>Mean Absolute Error (MAE), Root Mean Square </a:t>
            </a:r>
            <a:r>
              <a:rPr lang="pl-PL" sz="1200" dirty="0" smtClean="0"/>
              <a:t>E</a:t>
            </a:r>
            <a:r>
              <a:rPr lang="en-US" sz="1200" dirty="0" err="1" smtClean="0"/>
              <a:t>rror</a:t>
            </a:r>
            <a:r>
              <a:rPr lang="en-US" sz="1200" dirty="0" smtClean="0"/>
              <a:t> (RMSE).</a:t>
            </a:r>
            <a:r>
              <a:rPr lang="pl-PL" sz="1200" dirty="0" smtClean="0"/>
              <a:t> </a:t>
            </a:r>
            <a:endParaRPr lang="en-US" sz="1200" dirty="0" smtClean="0">
              <a:cs typeface="Segoe UI Light"/>
            </a:endParaRPr>
          </a:p>
          <a:p>
            <a:pPr algn="just"/>
            <a:endParaRPr lang="pl-PL" sz="1200" dirty="0" smtClean="0">
              <a:cs typeface="Segoe UI Light"/>
            </a:endParaRPr>
          </a:p>
          <a:p>
            <a:pPr algn="just"/>
            <a:endParaRPr lang="pl-PL" sz="1200" dirty="0" smtClean="0">
              <a:cs typeface="Segoe UI Light"/>
            </a:endParaRPr>
          </a:p>
          <a:p>
            <a:pPr algn="just"/>
            <a:endParaRPr lang="pl-PL" sz="1200" dirty="0" smtClean="0">
              <a:cs typeface="Segoe UI Light"/>
            </a:endParaRPr>
          </a:p>
          <a:p>
            <a:pPr algn="just"/>
            <a:endParaRPr lang="pl-PL" sz="1200" dirty="0" smtClean="0">
              <a:cs typeface="Segoe UI Light"/>
            </a:endParaRPr>
          </a:p>
          <a:p>
            <a:pPr algn="just"/>
            <a:endParaRPr lang="pl-PL" sz="1200" dirty="0"/>
          </a:p>
        </p:txBody>
      </p:sp>
      <p:pic>
        <p:nvPicPr>
          <p:cNvPr id="1028" name="Picture 4" descr="http://latex2png.com/pngs/42f10e86ce0372298de1ddf5404b07c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868" y="3214692"/>
            <a:ext cx="1428760" cy="2773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35668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8ED3F5D5-D987-4CD0-A25C-52F18EDA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58" y="71420"/>
            <a:ext cx="8229600" cy="85725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</a:pPr>
            <a:r>
              <a:rPr lang="pl-PL" sz="2800" b="1" dirty="0" smtClean="0">
                <a:cs typeface="Segoe UI Light"/>
              </a:rPr>
              <a:t>Materials and </a:t>
            </a:r>
            <a:r>
              <a:rPr lang="pl-PL" sz="2800" b="1" dirty="0" err="1" smtClean="0">
                <a:cs typeface="Segoe UI Light"/>
              </a:rPr>
              <a:t>methods</a:t>
            </a:r>
            <a:r>
              <a:rPr lang="pl-PL" sz="2800" b="1" dirty="0" smtClean="0">
                <a:cs typeface="Segoe UI Light"/>
              </a:rPr>
              <a:t> -</a:t>
            </a:r>
            <a:r>
              <a:rPr lang="pl-PL" sz="2800" dirty="0" smtClean="0">
                <a:cs typeface="Segoe UI Light"/>
              </a:rPr>
              <a:t> </a:t>
            </a:r>
            <a:r>
              <a:rPr lang="pl-PL" sz="2800" dirty="0" err="1" smtClean="0">
                <a:cs typeface="Segoe UI Light"/>
              </a:rPr>
              <a:t>dataset</a:t>
            </a:r>
            <a:r>
              <a:rPr lang="pl-PL" sz="2800" dirty="0" smtClean="0">
                <a:cs typeface="Segoe UI Light"/>
              </a:rPr>
              <a:t> </a:t>
            </a:r>
            <a:r>
              <a:rPr lang="pl-PL" sz="2800" dirty="0" err="1" smtClean="0">
                <a:cs typeface="Segoe UI Light"/>
              </a:rPr>
              <a:t>description</a:t>
            </a:r>
            <a:r>
              <a:rPr lang="pl-PL" sz="2800" b="1" dirty="0" smtClean="0">
                <a:cs typeface="Segoe UI Light"/>
              </a:rPr>
              <a:t> </a:t>
            </a:r>
          </a:p>
        </p:txBody>
      </p:sp>
      <p:sp>
        <p:nvSpPr>
          <p:cNvPr id="4" name="pole tekstowe 3"/>
          <p:cNvSpPr txBox="1"/>
          <p:nvPr/>
        </p:nvSpPr>
        <p:spPr>
          <a:xfrm>
            <a:off x="357158" y="928676"/>
            <a:ext cx="821537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200" b="1" dirty="0" err="1" smtClean="0"/>
              <a:t>Source</a:t>
            </a:r>
            <a:endParaRPr lang="pl-PL" sz="1200" b="1" dirty="0" smtClean="0"/>
          </a:p>
          <a:p>
            <a:pPr algn="just"/>
            <a:r>
              <a:rPr lang="en-US" sz="1200" dirty="0" smtClean="0"/>
              <a:t>The database used in the study was created for the purposes of the paper "Determinants of multinational tax avoidance" (</a:t>
            </a:r>
            <a:r>
              <a:rPr lang="en-US" sz="1200" dirty="0" err="1" smtClean="0"/>
              <a:t>Agnieszka</a:t>
            </a:r>
            <a:r>
              <a:rPr lang="en-US" sz="1200" dirty="0" smtClean="0"/>
              <a:t> </a:t>
            </a:r>
            <a:r>
              <a:rPr lang="en-US" sz="1200" dirty="0" err="1" smtClean="0"/>
              <a:t>Teterycz</a:t>
            </a:r>
            <a:r>
              <a:rPr lang="en-US" sz="1200" dirty="0" smtClean="0"/>
              <a:t>, PhD. Anna </a:t>
            </a:r>
            <a:r>
              <a:rPr lang="en-US" sz="1200" dirty="0" err="1" smtClean="0"/>
              <a:t>Białek</a:t>
            </a:r>
            <a:r>
              <a:rPr lang="en-US" sz="1200" dirty="0" smtClean="0"/>
              <a:t>) on the basis of data retrieved from the Bloomberg database, OECD and P</a:t>
            </a:r>
            <a:r>
              <a:rPr lang="pl-PL" sz="1200" dirty="0" smtClean="0"/>
              <a:t>W</a:t>
            </a:r>
            <a:r>
              <a:rPr lang="en-US" sz="1200" dirty="0" smtClean="0"/>
              <a:t>C reports.</a:t>
            </a:r>
            <a:endParaRPr lang="pl-PL" sz="1200" dirty="0" smtClean="0"/>
          </a:p>
          <a:p>
            <a:pPr algn="just"/>
            <a:endParaRPr lang="pl-PL" sz="1200" dirty="0" smtClean="0"/>
          </a:p>
          <a:p>
            <a:pPr algn="just"/>
            <a:r>
              <a:rPr lang="pl-PL" sz="1200" b="1" dirty="0" err="1" smtClean="0"/>
              <a:t>Observations</a:t>
            </a:r>
            <a:endParaRPr lang="pl-PL" sz="1200" b="1" dirty="0" smtClean="0"/>
          </a:p>
          <a:p>
            <a:pPr algn="just"/>
            <a:r>
              <a:rPr lang="en-US" sz="1200" dirty="0" smtClean="0"/>
              <a:t>The dataset </a:t>
            </a:r>
            <a:r>
              <a:rPr lang="en-US" sz="1200" dirty="0" smtClean="0"/>
              <a:t>gather</a:t>
            </a:r>
            <a:r>
              <a:rPr lang="pl-PL" sz="1200" dirty="0" smtClean="0"/>
              <a:t>s</a:t>
            </a:r>
            <a:r>
              <a:rPr lang="en-US" sz="1200" dirty="0" smtClean="0"/>
              <a:t> </a:t>
            </a:r>
            <a:r>
              <a:rPr lang="en-US" sz="1200" dirty="0" smtClean="0"/>
              <a:t>companies included in WIG, DAX, UK100, CAC40 and ATX indices listed on stock exchanges in Poland, Germany, Great Britain, France and Austria in 2005-201</a:t>
            </a:r>
            <a:r>
              <a:rPr lang="pl-PL" sz="1200" dirty="0" smtClean="0"/>
              <a:t>7</a:t>
            </a:r>
            <a:r>
              <a:rPr lang="en-US" sz="1200" dirty="0" smtClean="0"/>
              <a:t>.</a:t>
            </a:r>
            <a:r>
              <a:rPr lang="pl-PL" sz="1200" dirty="0" smtClean="0"/>
              <a:t> </a:t>
            </a:r>
            <a:r>
              <a:rPr lang="pl-PL" sz="1200" dirty="0" err="1" smtClean="0"/>
              <a:t>Yearly</a:t>
            </a:r>
            <a:r>
              <a:rPr lang="pl-PL" sz="1200" dirty="0" smtClean="0"/>
              <a:t> Data!</a:t>
            </a:r>
          </a:p>
          <a:p>
            <a:pPr algn="just"/>
            <a:endParaRPr lang="pl-PL" sz="1200" dirty="0" smtClean="0"/>
          </a:p>
          <a:p>
            <a:pPr algn="just"/>
            <a:r>
              <a:rPr lang="pl-PL" sz="1200" b="1" dirty="0" err="1" smtClean="0"/>
              <a:t>Dimensions</a:t>
            </a:r>
            <a:endParaRPr lang="pl-PL" sz="1200" b="1" dirty="0" smtClean="0"/>
          </a:p>
          <a:p>
            <a:pPr algn="just"/>
            <a:r>
              <a:rPr lang="en-US" sz="1200" dirty="0" smtClean="0"/>
              <a:t>13 years x 363 companies</a:t>
            </a:r>
            <a:r>
              <a:rPr lang="pl-PL" sz="1200" dirty="0" smtClean="0"/>
              <a:t> (</a:t>
            </a:r>
            <a:r>
              <a:rPr lang="pl-PL" sz="1200" dirty="0" err="1" smtClean="0"/>
              <a:t>balanced</a:t>
            </a:r>
            <a:r>
              <a:rPr lang="pl-PL" sz="1200" dirty="0" smtClean="0"/>
              <a:t> panel data) x 33 </a:t>
            </a:r>
            <a:r>
              <a:rPr lang="pl-PL" sz="1200" dirty="0" err="1" smtClean="0"/>
              <a:t>variables</a:t>
            </a:r>
            <a:r>
              <a:rPr lang="pl-PL" sz="1200" dirty="0" smtClean="0"/>
              <a:t> </a:t>
            </a:r>
            <a:r>
              <a:rPr lang="pl-PL" sz="1200" dirty="0" err="1" smtClean="0"/>
              <a:t>(i</a:t>
            </a:r>
            <a:r>
              <a:rPr lang="pl-PL" sz="1200" dirty="0" smtClean="0"/>
              <a:t>n </a:t>
            </a:r>
            <a:r>
              <a:rPr lang="pl-PL" sz="1200" dirty="0" err="1" smtClean="0"/>
              <a:t>the</a:t>
            </a:r>
            <a:r>
              <a:rPr lang="pl-PL" sz="1200" dirty="0" smtClean="0"/>
              <a:t> </a:t>
            </a:r>
            <a:r>
              <a:rPr lang="pl-PL" sz="1200" dirty="0" err="1" smtClean="0"/>
              <a:t>raw</a:t>
            </a:r>
            <a:r>
              <a:rPr lang="pl-PL" sz="1200" dirty="0" smtClean="0"/>
              <a:t> </a:t>
            </a:r>
            <a:r>
              <a:rPr lang="pl-PL" sz="1200" dirty="0" err="1" smtClean="0"/>
              <a:t>dataset</a:t>
            </a:r>
            <a:r>
              <a:rPr lang="pl-PL" sz="1200" dirty="0" smtClean="0"/>
              <a:t>)</a:t>
            </a:r>
          </a:p>
          <a:p>
            <a:pPr algn="just"/>
            <a:endParaRPr lang="pl-PL" sz="1200" dirty="0" smtClean="0"/>
          </a:p>
          <a:p>
            <a:pPr algn="just"/>
            <a:r>
              <a:rPr lang="pl-PL" sz="1200" b="1" dirty="0" err="1" smtClean="0"/>
              <a:t>Features</a:t>
            </a:r>
            <a:endParaRPr lang="pl-PL" sz="1200" b="1" dirty="0" smtClean="0"/>
          </a:p>
          <a:p>
            <a:pPr algn="just"/>
            <a:r>
              <a:rPr lang="en-US" sz="1200" dirty="0" smtClean="0"/>
              <a:t>Variables are initially divided into two groups: baseline variables and financial transformations on baseline variables.</a:t>
            </a:r>
            <a:r>
              <a:rPr lang="pl-PL" sz="1200" dirty="0" smtClean="0"/>
              <a:t> </a:t>
            </a:r>
            <a:r>
              <a:rPr lang="en-US" sz="1200" dirty="0" smtClean="0"/>
              <a:t>All variables are purely financial. A significant part of them are fundamental variables.</a:t>
            </a:r>
            <a:r>
              <a:rPr lang="pl-PL" sz="1200" dirty="0" smtClean="0"/>
              <a:t> A</a:t>
            </a:r>
            <a:r>
              <a:rPr lang="en-US" sz="1200" dirty="0" err="1" smtClean="0"/>
              <a:t>ll</a:t>
            </a:r>
            <a:r>
              <a:rPr lang="en-US" sz="1200" dirty="0" smtClean="0"/>
              <a:t> variables were selected based on literature</a:t>
            </a:r>
            <a:r>
              <a:rPr lang="pl-PL" sz="1200" dirty="0" smtClean="0"/>
              <a:t>. T</a:t>
            </a:r>
            <a:r>
              <a:rPr lang="en-US" sz="1200" dirty="0" smtClean="0"/>
              <a:t>he full list of variables is on the next slide</a:t>
            </a:r>
            <a:r>
              <a:rPr lang="pl-PL" sz="1200" dirty="0" smtClean="0"/>
              <a:t>.</a:t>
            </a:r>
          </a:p>
          <a:p>
            <a:pPr algn="just"/>
            <a:endParaRPr lang="pl-PL" sz="1200" dirty="0" smtClean="0"/>
          </a:p>
          <a:p>
            <a:pPr algn="just"/>
            <a:endParaRPr lang="pl-PL" sz="1200" dirty="0" smtClean="0"/>
          </a:p>
          <a:p>
            <a:pPr algn="just"/>
            <a:endParaRPr lang="pl-PL" sz="1200" dirty="0" smtClean="0">
              <a:cs typeface="Segoe UI Light"/>
            </a:endParaRPr>
          </a:p>
          <a:p>
            <a:pPr algn="just"/>
            <a:endParaRPr lang="pl-PL" sz="1200" dirty="0" smtClean="0">
              <a:cs typeface="Segoe UI Light"/>
            </a:endParaRPr>
          </a:p>
          <a:p>
            <a:pPr algn="just"/>
            <a:endParaRPr lang="pl-PL" sz="1200" dirty="0" smtClean="0">
              <a:cs typeface="Segoe UI Light"/>
            </a:endParaRPr>
          </a:p>
          <a:p>
            <a:pPr algn="just"/>
            <a:endParaRPr lang="pl-PL" sz="1200" dirty="0" smtClean="0">
              <a:cs typeface="Segoe UI Light"/>
            </a:endParaRPr>
          </a:p>
          <a:p>
            <a:pPr algn="just"/>
            <a:endParaRPr lang="pl-PL" sz="1200" dirty="0" smtClean="0">
              <a:cs typeface="Segoe UI Light"/>
            </a:endParaRPr>
          </a:p>
          <a:p>
            <a:pPr algn="just"/>
            <a:endParaRPr lang="pl-PL" sz="1200" dirty="0"/>
          </a:p>
        </p:txBody>
      </p:sp>
    </p:spTree>
    <p:extLst>
      <p:ext uri="{BB962C8B-B14F-4D97-AF65-F5344CB8AC3E}">
        <p14:creationId xmlns:p14="http://schemas.microsoft.com/office/powerpoint/2010/main" val="4235668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8ED3F5D5-D987-4CD0-A25C-52F18EDA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58" y="71420"/>
            <a:ext cx="8229600" cy="85725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</a:pPr>
            <a:r>
              <a:rPr lang="pl-PL" sz="2800" b="1" dirty="0" smtClean="0">
                <a:cs typeface="Segoe UI Light"/>
              </a:rPr>
              <a:t>Materials and </a:t>
            </a:r>
            <a:r>
              <a:rPr lang="pl-PL" sz="2800" b="1" dirty="0" err="1" smtClean="0">
                <a:cs typeface="Segoe UI Light"/>
              </a:rPr>
              <a:t>methods</a:t>
            </a:r>
            <a:r>
              <a:rPr lang="pl-PL" sz="2800" b="1" dirty="0" smtClean="0">
                <a:cs typeface="Segoe UI Light"/>
              </a:rPr>
              <a:t> -</a:t>
            </a:r>
            <a:r>
              <a:rPr lang="pl-PL" sz="2800" dirty="0" smtClean="0">
                <a:cs typeface="Segoe UI Light"/>
              </a:rPr>
              <a:t> </a:t>
            </a:r>
            <a:r>
              <a:rPr lang="pl-PL" sz="2800" dirty="0" err="1" smtClean="0">
                <a:cs typeface="Segoe UI Light"/>
              </a:rPr>
              <a:t>dataset</a:t>
            </a:r>
            <a:r>
              <a:rPr lang="pl-PL" sz="2800" dirty="0" smtClean="0">
                <a:cs typeface="Segoe UI Light"/>
              </a:rPr>
              <a:t> </a:t>
            </a:r>
            <a:r>
              <a:rPr lang="pl-PL" sz="2800" dirty="0" err="1" smtClean="0">
                <a:cs typeface="Segoe UI Light"/>
              </a:rPr>
              <a:t>description</a:t>
            </a:r>
            <a:r>
              <a:rPr lang="pl-PL" sz="2800" b="1" dirty="0" smtClean="0">
                <a:cs typeface="Segoe UI Light"/>
              </a:rPr>
              <a:t> </a:t>
            </a:r>
          </a:p>
        </p:txBody>
      </p:sp>
      <p:sp>
        <p:nvSpPr>
          <p:cNvPr id="4" name="pole tekstowe 3"/>
          <p:cNvSpPr txBox="1"/>
          <p:nvPr/>
        </p:nvSpPr>
        <p:spPr>
          <a:xfrm>
            <a:off x="357158" y="714362"/>
            <a:ext cx="82153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200" b="1" dirty="0" smtClean="0"/>
              <a:t>All </a:t>
            </a:r>
            <a:r>
              <a:rPr lang="pl-PL" sz="1200" b="1" dirty="0" err="1" smtClean="0"/>
              <a:t>initial</a:t>
            </a:r>
            <a:r>
              <a:rPr lang="pl-PL" sz="1200" b="1" dirty="0" smtClean="0"/>
              <a:t> </a:t>
            </a:r>
            <a:r>
              <a:rPr lang="pl-PL" sz="1200" b="1" dirty="0" err="1" smtClean="0"/>
              <a:t>features</a:t>
            </a:r>
            <a:r>
              <a:rPr lang="pl-PL" sz="1200" b="1" dirty="0" smtClean="0"/>
              <a:t> </a:t>
            </a:r>
            <a:r>
              <a:rPr lang="pl-PL" sz="1200" b="1" dirty="0" err="1" smtClean="0"/>
              <a:t>in</a:t>
            </a:r>
            <a:r>
              <a:rPr lang="pl-PL" sz="1200" b="1" dirty="0" smtClean="0"/>
              <a:t> </a:t>
            </a:r>
            <a:r>
              <a:rPr lang="pl-PL" sz="1200" b="1" dirty="0" err="1" smtClean="0"/>
              <a:t>the</a:t>
            </a:r>
            <a:r>
              <a:rPr lang="pl-PL" sz="1200" b="1" dirty="0" smtClean="0"/>
              <a:t> </a:t>
            </a:r>
            <a:r>
              <a:rPr lang="pl-PL" sz="1200" b="1" dirty="0" err="1" smtClean="0"/>
              <a:t>dataset</a:t>
            </a:r>
            <a:endParaRPr lang="pl-PL" sz="1200" dirty="0"/>
          </a:p>
        </p:txBody>
      </p:sp>
      <p:sp>
        <p:nvSpPr>
          <p:cNvPr id="5" name="Prostokąt 4"/>
          <p:cNvSpPr/>
          <p:nvPr/>
        </p:nvSpPr>
        <p:spPr>
          <a:xfrm>
            <a:off x="357158" y="1071552"/>
            <a:ext cx="4500594" cy="349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company ticker from stock exchange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business sector of a company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year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the stock exchange from which the company originates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total assets of a company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total tax expenses of a company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pre-tax income of a company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statutory tax rate of a company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research and development expenditure of a company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net income of a company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property plant and equipment net of a company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total intangible assets of a company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long term debt of a company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short term debt of a company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capital expenditures of a company</a:t>
            </a:r>
            <a:endParaRPr lang="pl-PL" sz="1300" dirty="0" smtClean="0"/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revenue of a company</a:t>
            </a:r>
          </a:p>
          <a:p>
            <a:pPr indent="-180000">
              <a:buFont typeface="Arial" pitchFamily="34" charset="0"/>
              <a:buChar char="•"/>
            </a:pPr>
            <a:endParaRPr lang="en-US" sz="1300" dirty="0" smtClean="0"/>
          </a:p>
        </p:txBody>
      </p:sp>
      <p:sp>
        <p:nvSpPr>
          <p:cNvPr id="6" name="Prostokąt 5"/>
          <p:cNvSpPr/>
          <p:nvPr/>
        </p:nvSpPr>
        <p:spPr>
          <a:xfrm>
            <a:off x="4572000" y="1071552"/>
            <a:ext cx="4500562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cash and cash equivalents of a company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advertising expenses of a company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effective tax rate of a company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statutory tax rate - effective tax rate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control foreign companies by a company [yes/no]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double taxation agreements [yes/no]</a:t>
            </a:r>
            <a:endParaRPr lang="pl-PL" sz="1300" dirty="0" smtClean="0"/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return of assets of a company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leverage of a company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intangible assets/total assets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research and development expenditure/total assets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property plant and equipment/total assets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log(revenue of a company/total assets)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cash and cash equivalents of a company/total assets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advertising expenses/total assets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err="1" smtClean="0"/>
              <a:t>capex</a:t>
            </a:r>
            <a:r>
              <a:rPr lang="en-US" sz="1300" dirty="0" smtClean="0"/>
              <a:t>/property plant and equipment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300" dirty="0" smtClean="0"/>
              <a:t>scaled capex2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235668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8ED3F5D5-D987-4CD0-A25C-52F18EDA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58" y="71420"/>
            <a:ext cx="8229600" cy="857250"/>
          </a:xfrm>
        </p:spPr>
        <p:txBody>
          <a:bodyPr>
            <a:normAutofit fontScale="90000"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</a:pPr>
            <a:r>
              <a:rPr lang="pl-PL" sz="2800" b="1" dirty="0" smtClean="0">
                <a:cs typeface="Segoe UI Light"/>
              </a:rPr>
              <a:t>Materials and </a:t>
            </a:r>
            <a:r>
              <a:rPr lang="pl-PL" sz="2800" b="1" dirty="0" err="1" smtClean="0">
                <a:cs typeface="Segoe UI Light"/>
              </a:rPr>
              <a:t>methods</a:t>
            </a:r>
            <a:r>
              <a:rPr lang="pl-PL" sz="2800" b="1" dirty="0" smtClean="0">
                <a:cs typeface="Segoe UI Light"/>
              </a:rPr>
              <a:t> -</a:t>
            </a:r>
            <a:r>
              <a:rPr lang="pl-PL" sz="2800" dirty="0" smtClean="0">
                <a:cs typeface="Segoe UI Light"/>
              </a:rPr>
              <a:t> general </a:t>
            </a:r>
            <a:r>
              <a:rPr lang="pl-PL" sz="2800" dirty="0" err="1" smtClean="0">
                <a:cs typeface="Segoe UI Light"/>
              </a:rPr>
              <a:t>methodology</a:t>
            </a:r>
            <a:r>
              <a:rPr lang="pl-PL" sz="2800" dirty="0" smtClean="0">
                <a:cs typeface="Segoe UI Light"/>
              </a:rPr>
              <a:t> of </a:t>
            </a:r>
            <a:r>
              <a:rPr lang="pl-PL" sz="2800" dirty="0" err="1" smtClean="0">
                <a:cs typeface="Segoe UI Light"/>
              </a:rPr>
              <a:t>research</a:t>
            </a:r>
            <a:endParaRPr lang="pl-PL" sz="2800" b="1" dirty="0" smtClean="0">
              <a:cs typeface="Segoe UI Light"/>
            </a:endParaRPr>
          </a:p>
        </p:txBody>
      </p:sp>
      <p:sp>
        <p:nvSpPr>
          <p:cNvPr id="4" name="pole tekstowe 3"/>
          <p:cNvSpPr txBox="1"/>
          <p:nvPr/>
        </p:nvSpPr>
        <p:spPr>
          <a:xfrm>
            <a:off x="357158" y="803850"/>
            <a:ext cx="821537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0000"/>
            <a:r>
              <a:rPr lang="pl-PL" sz="1200" b="1" dirty="0" err="1" smtClean="0"/>
              <a:t>Dataset</a:t>
            </a:r>
            <a:r>
              <a:rPr lang="pl-PL" sz="1200" b="1" dirty="0" smtClean="0"/>
              <a:t> </a:t>
            </a:r>
            <a:r>
              <a:rPr lang="pl-PL" sz="1200" b="1" dirty="0" err="1" smtClean="0"/>
              <a:t>adjustment</a:t>
            </a:r>
            <a:r>
              <a:rPr lang="pl-PL" sz="1200" b="1" dirty="0" smtClean="0"/>
              <a:t>  and </a:t>
            </a:r>
            <a:r>
              <a:rPr lang="pl-PL" sz="1200" b="1" dirty="0" err="1" smtClean="0"/>
              <a:t>split</a:t>
            </a:r>
            <a:r>
              <a:rPr lang="pl-PL" sz="1200" b="1" dirty="0" smtClean="0"/>
              <a:t>:</a:t>
            </a:r>
          </a:p>
          <a:p>
            <a:pPr indent="-180000">
              <a:buFont typeface="Arial" pitchFamily="34" charset="0"/>
              <a:buChar char="•"/>
            </a:pPr>
            <a:r>
              <a:rPr lang="pl-PL" sz="1200" dirty="0" smtClean="0"/>
              <a:t>ETR </a:t>
            </a:r>
            <a:r>
              <a:rPr lang="pl-PL" sz="1200" dirty="0" err="1" smtClean="0"/>
              <a:t>shifting</a:t>
            </a:r>
            <a:endParaRPr lang="en-US" sz="1200" dirty="0" smtClean="0"/>
          </a:p>
          <a:p>
            <a:pPr indent="-180000">
              <a:buFont typeface="Arial" pitchFamily="34" charset="0"/>
              <a:buChar char="•"/>
            </a:pPr>
            <a:r>
              <a:rPr lang="en-US" sz="1200" dirty="0" smtClean="0"/>
              <a:t>train (&amp; validation) dataset - 2005 - 2015 (exogenous notation) x 364 companies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200" dirty="0" smtClean="0"/>
              <a:t>test (out of sample / out of time) dataset - 2016 (exogenous notation) x 364 companies</a:t>
            </a:r>
          </a:p>
          <a:p>
            <a:pPr indent="-180000"/>
            <a:r>
              <a:rPr lang="en-US" sz="1200" dirty="0" smtClean="0"/>
              <a:t>Test dataset will be used </a:t>
            </a:r>
            <a:r>
              <a:rPr lang="en-US" sz="1200" b="1" dirty="0" smtClean="0"/>
              <a:t>only</a:t>
            </a:r>
            <a:r>
              <a:rPr lang="en-US" sz="1200" dirty="0" smtClean="0"/>
              <a:t> for the final predictions!</a:t>
            </a:r>
            <a:endParaRPr lang="pl-PL" sz="1200" dirty="0" smtClean="0"/>
          </a:p>
          <a:p>
            <a:pPr indent="-180000"/>
            <a:endParaRPr lang="pl-PL" sz="1200" dirty="0" smtClean="0"/>
          </a:p>
          <a:p>
            <a:pPr indent="-180000"/>
            <a:r>
              <a:rPr lang="pl-PL" sz="1200" b="1" dirty="0" err="1" smtClean="0"/>
              <a:t>Models</a:t>
            </a:r>
            <a:endParaRPr lang="pl-PL" sz="1200" b="1" dirty="0" smtClean="0"/>
          </a:p>
          <a:p>
            <a:pPr indent="-180000">
              <a:buFont typeface="Arial" pitchFamily="34" charset="0"/>
              <a:buChar char="•"/>
            </a:pPr>
            <a:r>
              <a:rPr lang="pl-PL" sz="1200" dirty="0" smtClean="0"/>
              <a:t> </a:t>
            </a:r>
            <a:r>
              <a:rPr lang="pl-PL" sz="1200" dirty="0" err="1" smtClean="0"/>
              <a:t>forecasting</a:t>
            </a:r>
            <a:r>
              <a:rPr lang="pl-PL" sz="1200" dirty="0" smtClean="0"/>
              <a:t> </a:t>
            </a:r>
            <a:r>
              <a:rPr lang="pl-PL" sz="1200" dirty="0" err="1" smtClean="0"/>
              <a:t>methodology</a:t>
            </a:r>
            <a:r>
              <a:rPr lang="pl-PL" sz="1200" dirty="0" smtClean="0"/>
              <a:t>: one step </a:t>
            </a:r>
            <a:r>
              <a:rPr lang="pl-PL" sz="1200" dirty="0" err="1" smtClean="0"/>
              <a:t>ahead</a:t>
            </a:r>
            <a:endParaRPr lang="pl-PL" sz="1200" b="1" dirty="0" smtClean="0"/>
          </a:p>
          <a:p>
            <a:pPr indent="-180000">
              <a:buFont typeface="Arial" pitchFamily="34" charset="0"/>
              <a:buChar char="•"/>
            </a:pPr>
            <a:r>
              <a:rPr lang="pl-PL" sz="1200" dirty="0" smtClean="0"/>
              <a:t> </a:t>
            </a:r>
            <a:r>
              <a:rPr lang="pl-PL" sz="1200" dirty="0" err="1" smtClean="0"/>
              <a:t>class</a:t>
            </a:r>
            <a:r>
              <a:rPr lang="pl-PL" sz="1200" dirty="0" smtClean="0"/>
              <a:t> of </a:t>
            </a:r>
            <a:r>
              <a:rPr lang="pl-PL" sz="1200" dirty="0" err="1" smtClean="0"/>
              <a:t>models</a:t>
            </a:r>
            <a:r>
              <a:rPr lang="pl-PL" sz="1200" dirty="0" smtClean="0"/>
              <a:t>: </a:t>
            </a:r>
            <a:r>
              <a:rPr lang="pl-PL" sz="1200" dirty="0" err="1" smtClean="0"/>
              <a:t>naive</a:t>
            </a:r>
            <a:r>
              <a:rPr lang="pl-PL" sz="1200" dirty="0" smtClean="0"/>
              <a:t> model (</a:t>
            </a:r>
            <a:r>
              <a:rPr lang="pl-PL" sz="1200" dirty="0" err="1" smtClean="0"/>
              <a:t>y_t</a:t>
            </a:r>
            <a:r>
              <a:rPr lang="pl-PL" sz="1200" dirty="0" smtClean="0"/>
              <a:t> = y_{t-1}), OLS (</a:t>
            </a:r>
            <a:r>
              <a:rPr lang="pl-PL" sz="1200" dirty="0" err="1" smtClean="0"/>
              <a:t>without</a:t>
            </a:r>
            <a:r>
              <a:rPr lang="pl-PL" sz="1200" dirty="0" smtClean="0"/>
              <a:t> time dependent </a:t>
            </a:r>
            <a:r>
              <a:rPr lang="pl-PL" sz="1200" dirty="0" err="1" smtClean="0"/>
              <a:t>variables</a:t>
            </a:r>
            <a:r>
              <a:rPr lang="pl-PL" sz="1200" dirty="0" smtClean="0"/>
              <a:t>), ARMA, ARDL (OLS </a:t>
            </a:r>
            <a:r>
              <a:rPr lang="pl-PL" sz="1200" dirty="0" err="1" smtClean="0"/>
              <a:t>with</a:t>
            </a:r>
            <a:r>
              <a:rPr lang="pl-PL" sz="1200" dirty="0" smtClean="0"/>
              <a:t> time dependent </a:t>
            </a:r>
            <a:r>
              <a:rPr lang="pl-PL" sz="1200" dirty="0" err="1" smtClean="0"/>
              <a:t>variables</a:t>
            </a:r>
            <a:r>
              <a:rPr lang="pl-PL" sz="1200" dirty="0" smtClean="0"/>
              <a:t>), KNN, SVR</a:t>
            </a:r>
          </a:p>
          <a:p>
            <a:pPr indent="-180000"/>
            <a:endParaRPr lang="pl-PL" sz="1200" dirty="0" smtClean="0"/>
          </a:p>
          <a:p>
            <a:pPr indent="-180000"/>
            <a:r>
              <a:rPr lang="pl-PL" sz="1200" b="1" dirty="0" smtClean="0"/>
              <a:t>Winner </a:t>
            </a:r>
            <a:r>
              <a:rPr lang="pl-PL" sz="1200" b="1" dirty="0" err="1" smtClean="0"/>
              <a:t>obtaining</a:t>
            </a:r>
            <a:endParaRPr lang="pl-PL" sz="1200" b="1" dirty="0" smtClean="0"/>
          </a:p>
          <a:p>
            <a:pPr indent="-180000"/>
            <a:r>
              <a:rPr lang="en-US" sz="1200" dirty="0" smtClean="0"/>
              <a:t>We will find the best model (variables and </a:t>
            </a:r>
            <a:r>
              <a:rPr lang="en-US" sz="1200" dirty="0" err="1" smtClean="0"/>
              <a:t>hyperparameters</a:t>
            </a:r>
            <a:r>
              <a:rPr lang="en-US" sz="1200" dirty="0" smtClean="0"/>
              <a:t>) within each model class on the training and validation set, and at the end we will evaluate their results on the test set to select </a:t>
            </a:r>
            <a:r>
              <a:rPr lang="en-US" sz="1200" dirty="0" smtClean="0"/>
              <a:t>cha</a:t>
            </a:r>
            <a:r>
              <a:rPr lang="pl-PL" sz="1200" dirty="0" smtClean="0"/>
              <a:t>m</a:t>
            </a:r>
            <a:r>
              <a:rPr lang="en-US" sz="1200" dirty="0" smtClean="0"/>
              <a:t>pion</a:t>
            </a:r>
            <a:r>
              <a:rPr lang="en-US" sz="1200" dirty="0" smtClean="0"/>
              <a:t>.</a:t>
            </a:r>
            <a:endParaRPr lang="pl-PL" sz="1200" dirty="0" smtClean="0"/>
          </a:p>
          <a:p>
            <a:pPr indent="-180000"/>
            <a:endParaRPr lang="pl-PL" sz="1200" dirty="0" smtClean="0"/>
          </a:p>
          <a:p>
            <a:pPr indent="-180000"/>
            <a:r>
              <a:rPr lang="pl-PL" sz="1200" b="1" dirty="0" err="1" smtClean="0"/>
              <a:t>Cross-validation</a:t>
            </a:r>
            <a:r>
              <a:rPr lang="pl-PL" sz="1200" dirty="0" smtClean="0"/>
              <a:t>: </a:t>
            </a:r>
          </a:p>
          <a:p>
            <a:pPr indent="-180000"/>
            <a:r>
              <a:rPr lang="pl-PL" sz="1200" dirty="0"/>
              <a:t>I</a:t>
            </a:r>
            <a:r>
              <a:rPr lang="pl-PL" sz="1200" dirty="0" smtClean="0"/>
              <a:t>n </a:t>
            </a:r>
            <a:r>
              <a:rPr lang="pl-PL" sz="1200" dirty="0" err="1" smtClean="0"/>
              <a:t>case</a:t>
            </a:r>
            <a:r>
              <a:rPr lang="pl-PL" sz="1200" dirty="0" smtClean="0"/>
              <a:t> of </a:t>
            </a:r>
            <a:r>
              <a:rPr lang="pl-PL" sz="1200" dirty="0" err="1" smtClean="0"/>
              <a:t>final</a:t>
            </a:r>
            <a:r>
              <a:rPr lang="pl-PL" sz="1200" dirty="0" smtClean="0"/>
              <a:t> </a:t>
            </a:r>
            <a:r>
              <a:rPr lang="pl-PL" sz="1200" dirty="0" err="1" smtClean="0"/>
              <a:t>comparison</a:t>
            </a:r>
            <a:r>
              <a:rPr lang="pl-PL" sz="1200" dirty="0" smtClean="0"/>
              <a:t> of </a:t>
            </a:r>
            <a:r>
              <a:rPr lang="pl-PL" sz="1200" dirty="0" err="1" smtClean="0"/>
              <a:t>models</a:t>
            </a:r>
            <a:r>
              <a:rPr lang="pl-PL" sz="1200" dirty="0" smtClean="0"/>
              <a:t> </a:t>
            </a:r>
            <a:r>
              <a:rPr lang="pl-PL" sz="1200" dirty="0" err="1" smtClean="0"/>
              <a:t>inside</a:t>
            </a:r>
            <a:r>
              <a:rPr lang="pl-PL" sz="1200" dirty="0" smtClean="0"/>
              <a:t> a </a:t>
            </a:r>
            <a:r>
              <a:rPr lang="pl-PL" sz="1200" dirty="0" err="1" smtClean="0"/>
              <a:t>specific</a:t>
            </a:r>
            <a:r>
              <a:rPr lang="pl-PL" sz="1200" dirty="0" smtClean="0"/>
              <a:t> </a:t>
            </a:r>
            <a:r>
              <a:rPr lang="pl-PL" sz="1200" dirty="0" err="1" smtClean="0"/>
              <a:t>class</a:t>
            </a:r>
            <a:r>
              <a:rPr lang="pl-PL" sz="1200" dirty="0" smtClean="0"/>
              <a:t> of </a:t>
            </a:r>
            <a:r>
              <a:rPr lang="pl-PL" sz="1200" dirty="0" err="1" smtClean="0"/>
              <a:t>models</a:t>
            </a:r>
            <a:r>
              <a:rPr lang="pl-PL" sz="1200" dirty="0" smtClean="0"/>
              <a:t> we applied „</a:t>
            </a:r>
            <a:r>
              <a:rPr lang="pl-PL" sz="1200" dirty="0" err="1" smtClean="0"/>
              <a:t>proper</a:t>
            </a:r>
            <a:r>
              <a:rPr lang="pl-PL" sz="1200" dirty="0" smtClean="0"/>
              <a:t> CV” - </a:t>
            </a:r>
            <a:r>
              <a:rPr lang="en-US" sz="1200" dirty="0" smtClean="0"/>
              <a:t>we will treat it like a panel problem with a rolling window. </a:t>
            </a:r>
          </a:p>
          <a:p>
            <a:pPr indent="-180000"/>
            <a:r>
              <a:rPr lang="en-US" sz="1200" dirty="0" smtClean="0"/>
              <a:t>Sliding window:</a:t>
            </a:r>
          </a:p>
          <a:p>
            <a:pPr lvl="1" indent="-180000"/>
            <a:r>
              <a:rPr lang="en-US" sz="1200" dirty="0" smtClean="0"/>
              <a:t>T: 2005 - 2008; V: 2009</a:t>
            </a:r>
          </a:p>
          <a:p>
            <a:pPr lvl="1" indent="-180000"/>
            <a:r>
              <a:rPr lang="en-US" sz="1200" dirty="0" smtClean="0"/>
              <a:t>T: 2005 - 2009; V: 2010</a:t>
            </a:r>
          </a:p>
          <a:p>
            <a:pPr lvl="1" indent="-180000"/>
            <a:r>
              <a:rPr lang="en-US" sz="1200" dirty="0" smtClean="0"/>
              <a:t>T: 2005 - 2010; V: 2011</a:t>
            </a:r>
          </a:p>
          <a:p>
            <a:pPr lvl="1" indent="-180000"/>
            <a:r>
              <a:rPr lang="en-US" sz="1200" dirty="0" smtClean="0"/>
              <a:t>...</a:t>
            </a:r>
            <a:endParaRPr lang="pl-PL" sz="1200" dirty="0"/>
          </a:p>
        </p:txBody>
      </p:sp>
    </p:spTree>
    <p:extLst>
      <p:ext uri="{BB962C8B-B14F-4D97-AF65-F5344CB8AC3E}">
        <p14:creationId xmlns:p14="http://schemas.microsoft.com/office/powerpoint/2010/main" val="4235668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8ED3F5D5-D987-4CD0-A25C-52F18EDA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0298" y="1785932"/>
            <a:ext cx="4071966" cy="85725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</a:pPr>
            <a:r>
              <a:rPr lang="pl-PL" sz="2800" b="1" dirty="0" err="1" smtClean="0">
                <a:cs typeface="Segoe UI Light"/>
              </a:rPr>
              <a:t>Machine</a:t>
            </a:r>
            <a:r>
              <a:rPr lang="pl-PL" sz="2800" b="1" dirty="0" smtClean="0">
                <a:cs typeface="Segoe UI Light"/>
              </a:rPr>
              <a:t> learning </a:t>
            </a:r>
            <a:r>
              <a:rPr lang="pl-PL" sz="2800" b="1" dirty="0" err="1" smtClean="0">
                <a:cs typeface="Segoe UI Light"/>
              </a:rPr>
              <a:t>journey</a:t>
            </a:r>
            <a:endParaRPr lang="pl-PL" sz="2800" b="1" dirty="0" smtClean="0"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235668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8ED3F5D5-D987-4CD0-A25C-52F18EDA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58" y="71420"/>
            <a:ext cx="8229600" cy="85725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</a:pPr>
            <a:r>
              <a:rPr lang="pl-PL" sz="2800" b="1" dirty="0" err="1" smtClean="0">
                <a:cs typeface="Segoe UI Light"/>
              </a:rPr>
              <a:t>Exploratory</a:t>
            </a:r>
            <a:r>
              <a:rPr lang="pl-PL" sz="2800" b="1" dirty="0" smtClean="0">
                <a:cs typeface="Segoe UI Light"/>
              </a:rPr>
              <a:t> </a:t>
            </a:r>
            <a:r>
              <a:rPr lang="pl-PL" sz="2800" b="1" dirty="0" smtClean="0">
                <a:cs typeface="Segoe UI Light"/>
              </a:rPr>
              <a:t>Data Analysis</a:t>
            </a:r>
          </a:p>
        </p:txBody>
      </p:sp>
      <p:sp>
        <p:nvSpPr>
          <p:cNvPr id="18434" name="AutoShape 2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36" name="AutoShape 4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39" name="AutoShape 7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41" name="AutoShape 9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pic>
        <p:nvPicPr>
          <p:cNvPr id="18444" name="Picture 12" descr="C:\Users\wozni\Desktop\pobrane (5)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857238"/>
            <a:ext cx="8324851" cy="40671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35668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8ED3F5D5-D987-4CD0-A25C-52F18EDA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58" y="71420"/>
            <a:ext cx="8229600" cy="85725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</a:pPr>
            <a:r>
              <a:rPr lang="pl-PL" sz="2800" b="1" dirty="0" err="1" smtClean="0">
                <a:cs typeface="Segoe UI Light"/>
              </a:rPr>
              <a:t>Exploratory</a:t>
            </a:r>
            <a:r>
              <a:rPr lang="pl-PL" sz="2800" b="1" dirty="0" smtClean="0">
                <a:cs typeface="Segoe UI Light"/>
              </a:rPr>
              <a:t> </a:t>
            </a:r>
            <a:r>
              <a:rPr lang="pl-PL" sz="2800" b="1" dirty="0" smtClean="0">
                <a:cs typeface="Segoe UI Light"/>
              </a:rPr>
              <a:t>Data Analysis</a:t>
            </a:r>
          </a:p>
        </p:txBody>
      </p:sp>
      <p:sp>
        <p:nvSpPr>
          <p:cNvPr id="18434" name="AutoShape 2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36" name="AutoShape 4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39" name="AutoShape 7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41" name="AutoShape 9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pic>
        <p:nvPicPr>
          <p:cNvPr id="26626" name="Picture 2" descr="C:\Users\wozni\Desktop\pobrane (4)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942975"/>
            <a:ext cx="8458201" cy="42005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35668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8ED3F5D5-D987-4CD0-A25C-52F18EDA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58" y="71420"/>
            <a:ext cx="8229600" cy="85725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</a:pPr>
            <a:r>
              <a:rPr lang="pl-PL" sz="2800" b="1" dirty="0" err="1" smtClean="0">
                <a:cs typeface="Segoe UI Light"/>
              </a:rPr>
              <a:t>Exploratory</a:t>
            </a:r>
            <a:r>
              <a:rPr lang="pl-PL" sz="2800" b="1" dirty="0" smtClean="0">
                <a:cs typeface="Segoe UI Light"/>
              </a:rPr>
              <a:t> </a:t>
            </a:r>
            <a:r>
              <a:rPr lang="pl-PL" sz="2800" b="1" dirty="0" smtClean="0">
                <a:cs typeface="Segoe UI Light"/>
              </a:rPr>
              <a:t>Data Analysis</a:t>
            </a:r>
          </a:p>
        </p:txBody>
      </p:sp>
      <p:sp>
        <p:nvSpPr>
          <p:cNvPr id="18434" name="AutoShape 2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36" name="AutoShape 4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39" name="AutoShape 7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41" name="AutoShape 9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pic>
        <p:nvPicPr>
          <p:cNvPr id="27650" name="Picture 2" descr="C:\Users\wozni\Desktop\pobrane (6)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785800"/>
            <a:ext cx="8143932" cy="42150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35668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8ED3F5D5-D987-4CD0-A25C-52F18EDA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20" y="0"/>
            <a:ext cx="8229600" cy="85725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</a:pPr>
            <a:r>
              <a:rPr lang="pl-PL" sz="2800" b="1" dirty="0" err="1" smtClean="0">
                <a:cs typeface="Segoe UI Light"/>
              </a:rPr>
              <a:t>Feature</a:t>
            </a:r>
            <a:r>
              <a:rPr lang="pl-PL" sz="2800" b="1" dirty="0" smtClean="0">
                <a:cs typeface="Segoe UI Light"/>
              </a:rPr>
              <a:t> engineering</a:t>
            </a:r>
          </a:p>
        </p:txBody>
      </p:sp>
      <p:sp>
        <p:nvSpPr>
          <p:cNvPr id="18434" name="AutoShape 2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36" name="AutoShape 4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39" name="AutoShape 7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41" name="AutoShape 9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7" name="pole tekstowe 6"/>
          <p:cNvSpPr txBox="1"/>
          <p:nvPr/>
        </p:nvSpPr>
        <p:spPr>
          <a:xfrm>
            <a:off x="285720" y="785800"/>
            <a:ext cx="88582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0000"/>
            <a:r>
              <a:rPr lang="pl-PL" sz="1200" b="1" dirty="0" err="1" smtClean="0"/>
              <a:t>Feature</a:t>
            </a:r>
            <a:r>
              <a:rPr lang="pl-PL" sz="1200" b="1" dirty="0" smtClean="0"/>
              <a:t> engineering </a:t>
            </a:r>
            <a:r>
              <a:rPr lang="pl-PL" sz="1200" b="1" dirty="0" err="1" smtClean="0"/>
              <a:t>during</a:t>
            </a:r>
            <a:r>
              <a:rPr lang="pl-PL" sz="1200" b="1" dirty="0" smtClean="0"/>
              <a:t> ETL</a:t>
            </a:r>
          </a:p>
          <a:p>
            <a:pPr indent="-180000"/>
            <a:r>
              <a:rPr lang="pl-PL" sz="1200" dirty="0" smtClean="0"/>
              <a:t>We </a:t>
            </a:r>
            <a:r>
              <a:rPr lang="pl-PL" sz="1200" dirty="0" err="1" smtClean="0"/>
              <a:t>created</a:t>
            </a:r>
            <a:r>
              <a:rPr lang="pl-PL" sz="1200" dirty="0" smtClean="0"/>
              <a:t> </a:t>
            </a:r>
            <a:r>
              <a:rPr lang="pl-PL" sz="1200" dirty="0" err="1" smtClean="0"/>
              <a:t>additional</a:t>
            </a:r>
            <a:r>
              <a:rPr lang="pl-PL" sz="1200" dirty="0" smtClean="0"/>
              <a:t> </a:t>
            </a:r>
            <a:r>
              <a:rPr lang="pl-PL" sz="1200" dirty="0" err="1" smtClean="0"/>
              <a:t>features</a:t>
            </a:r>
            <a:r>
              <a:rPr lang="pl-PL" sz="1200" dirty="0" smtClean="0"/>
              <a:t> </a:t>
            </a:r>
            <a:r>
              <a:rPr lang="pl-PL" sz="1200" dirty="0" err="1" smtClean="0"/>
              <a:t>based</a:t>
            </a:r>
            <a:r>
              <a:rPr lang="pl-PL" sz="1200" dirty="0" smtClean="0"/>
              <a:t> on </a:t>
            </a:r>
            <a:r>
              <a:rPr lang="pl-PL" sz="1200" dirty="0" err="1" smtClean="0"/>
              <a:t>three</a:t>
            </a:r>
            <a:r>
              <a:rPr lang="pl-PL" sz="1200" dirty="0" smtClean="0"/>
              <a:t> </a:t>
            </a:r>
            <a:r>
              <a:rPr lang="pl-PL" sz="1200" dirty="0" err="1" smtClean="0"/>
              <a:t>sources</a:t>
            </a:r>
            <a:r>
              <a:rPr lang="pl-PL" sz="1200" dirty="0" smtClean="0"/>
              <a:t>: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200" dirty="0" smtClean="0"/>
              <a:t>First source: World Bank, V-Dem index, Polity index, BR index</a:t>
            </a:r>
            <a:r>
              <a:rPr lang="pl-PL" sz="1200" dirty="0" smtClean="0"/>
              <a:t> - </a:t>
            </a:r>
            <a:r>
              <a:rPr lang="en-US" sz="1200" dirty="0" smtClean="0"/>
              <a:t>democracy indices (proxy for investment moods), GDP growth, GDP per capita and Inflation (proxy for business cycle</a:t>
            </a:r>
            <a:r>
              <a:rPr lang="pl-PL" sz="1200" dirty="0" smtClean="0"/>
              <a:t>)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200" dirty="0" smtClean="0"/>
              <a:t>Second source: main stock market indexes for Poland (WIG), Germany (DAX), Great Britain (FTSE), France (CAC) and Austria (ATX)</a:t>
            </a:r>
            <a:r>
              <a:rPr lang="pl-PL" sz="1200" dirty="0" smtClean="0"/>
              <a:t> – </a:t>
            </a:r>
            <a:r>
              <a:rPr lang="pl-PL" sz="1200" dirty="0" err="1" smtClean="0"/>
              <a:t>yearly</a:t>
            </a:r>
            <a:r>
              <a:rPr lang="pl-PL" sz="1200" dirty="0" smtClean="0"/>
              <a:t> </a:t>
            </a:r>
            <a:r>
              <a:rPr lang="pl-PL" sz="1200" dirty="0" err="1" smtClean="0"/>
              <a:t>stock</a:t>
            </a:r>
            <a:r>
              <a:rPr lang="pl-PL" sz="1200" dirty="0" smtClean="0"/>
              <a:t> </a:t>
            </a:r>
            <a:r>
              <a:rPr lang="pl-PL" sz="1200" dirty="0" err="1" smtClean="0"/>
              <a:t>returns</a:t>
            </a:r>
            <a:endParaRPr lang="pl-PL" sz="1200" dirty="0" smtClean="0"/>
          </a:p>
          <a:p>
            <a:pPr indent="-180000">
              <a:buFont typeface="Arial" pitchFamily="34" charset="0"/>
              <a:buChar char="•"/>
            </a:pPr>
            <a:r>
              <a:rPr lang="en-US" sz="1200" dirty="0" smtClean="0"/>
              <a:t>Third source: S&amp;P indexes for sectors</a:t>
            </a:r>
            <a:r>
              <a:rPr lang="pl-PL" sz="1200" dirty="0" smtClean="0"/>
              <a:t> - </a:t>
            </a:r>
            <a:r>
              <a:rPr lang="pl-PL" sz="1200" dirty="0" err="1" smtClean="0"/>
              <a:t>yearly</a:t>
            </a:r>
            <a:r>
              <a:rPr lang="pl-PL" sz="1200" dirty="0" smtClean="0"/>
              <a:t> </a:t>
            </a:r>
            <a:r>
              <a:rPr lang="pl-PL" sz="1200" dirty="0" err="1" smtClean="0"/>
              <a:t>stock</a:t>
            </a:r>
            <a:r>
              <a:rPr lang="pl-PL" sz="1200" dirty="0" smtClean="0"/>
              <a:t> </a:t>
            </a:r>
            <a:r>
              <a:rPr lang="pl-PL" sz="1200" dirty="0" err="1" smtClean="0"/>
              <a:t>returns</a:t>
            </a:r>
            <a:endParaRPr lang="en-US" sz="1200" dirty="0" smtClean="0"/>
          </a:p>
          <a:p>
            <a:pPr indent="-180000"/>
            <a:endParaRPr lang="pl-PL" sz="1200" dirty="0" smtClean="0"/>
          </a:p>
          <a:p>
            <a:pPr indent="-180000"/>
            <a:r>
              <a:rPr lang="pl-PL" sz="1200" b="1" dirty="0" err="1" smtClean="0"/>
              <a:t>Feature</a:t>
            </a:r>
            <a:r>
              <a:rPr lang="pl-PL" sz="1200" b="1" dirty="0" smtClean="0"/>
              <a:t> engineering </a:t>
            </a:r>
            <a:r>
              <a:rPr lang="pl-PL" sz="1200" b="1" dirty="0" err="1" smtClean="0"/>
              <a:t>after</a:t>
            </a:r>
            <a:r>
              <a:rPr lang="pl-PL" sz="1200" b="1" dirty="0" smtClean="0"/>
              <a:t> ETL</a:t>
            </a:r>
          </a:p>
          <a:p>
            <a:pPr indent="-180000">
              <a:buFont typeface="Arial" pitchFamily="34" charset="0"/>
              <a:buChar char="•"/>
            </a:pPr>
            <a:r>
              <a:rPr lang="pl-PL" sz="1200" dirty="0" smtClean="0"/>
              <a:t> </a:t>
            </a:r>
            <a:r>
              <a:rPr lang="en-US" sz="1200" dirty="0" smtClean="0"/>
              <a:t>one dimensional approach</a:t>
            </a:r>
            <a:r>
              <a:rPr lang="pl-PL" sz="1200" dirty="0" smtClean="0"/>
              <a:t> </a:t>
            </a:r>
          </a:p>
          <a:p>
            <a:pPr lvl="1" indent="-180000">
              <a:buFont typeface="Arial" pitchFamily="34" charset="0"/>
              <a:buChar char="•"/>
            </a:pPr>
            <a:r>
              <a:rPr lang="pl-PL" sz="1200" dirty="0" smtClean="0"/>
              <a:t> </a:t>
            </a:r>
            <a:r>
              <a:rPr lang="pl-PL" sz="1200" dirty="0" err="1" smtClean="0"/>
              <a:t>logarithm</a:t>
            </a:r>
            <a:endParaRPr lang="pl-PL" sz="1200" dirty="0" smtClean="0"/>
          </a:p>
          <a:p>
            <a:pPr lvl="1" indent="-180000">
              <a:buFont typeface="Arial" pitchFamily="34" charset="0"/>
              <a:buChar char="•"/>
            </a:pPr>
            <a:r>
              <a:rPr lang="pl-PL" sz="1200" dirty="0" smtClean="0"/>
              <a:t> </a:t>
            </a:r>
            <a:r>
              <a:rPr lang="pl-PL" sz="1200" dirty="0" err="1" smtClean="0"/>
              <a:t>square</a:t>
            </a:r>
            <a:r>
              <a:rPr lang="pl-PL" sz="1200" dirty="0" smtClean="0"/>
              <a:t> </a:t>
            </a:r>
            <a:r>
              <a:rPr lang="pl-PL" sz="1200" dirty="0" err="1" smtClean="0"/>
              <a:t>root</a:t>
            </a:r>
            <a:endParaRPr lang="pl-PL" sz="1200" dirty="0" smtClean="0"/>
          </a:p>
          <a:p>
            <a:pPr lvl="1" indent="-180000">
              <a:buFont typeface="Arial" pitchFamily="34" charset="0"/>
              <a:buChar char="•"/>
            </a:pPr>
            <a:r>
              <a:rPr lang="pl-PL" sz="1200" dirty="0" smtClean="0"/>
              <a:t> </a:t>
            </a:r>
            <a:r>
              <a:rPr lang="pl-PL" sz="1200" dirty="0" err="1" smtClean="0"/>
              <a:t>power</a:t>
            </a:r>
            <a:endParaRPr lang="pl-PL" sz="1200" dirty="0" smtClean="0"/>
          </a:p>
          <a:p>
            <a:pPr lvl="1" indent="-180000">
              <a:buFont typeface="Arial" pitchFamily="34" charset="0"/>
              <a:buChar char="•"/>
            </a:pPr>
            <a:r>
              <a:rPr lang="pl-PL" sz="1200" dirty="0" smtClean="0"/>
              <a:t> </a:t>
            </a:r>
            <a:r>
              <a:rPr lang="pl-PL" sz="1200" dirty="0" err="1" smtClean="0"/>
              <a:t>clipping</a:t>
            </a:r>
            <a:endParaRPr lang="pl-PL" sz="1200" dirty="0" smtClean="0"/>
          </a:p>
          <a:p>
            <a:pPr lvl="1" indent="-180000">
              <a:buFont typeface="Arial" pitchFamily="34" charset="0"/>
              <a:buChar char="•"/>
            </a:pPr>
            <a:r>
              <a:rPr lang="pl-PL" sz="1200" dirty="0" smtClean="0"/>
              <a:t> </a:t>
            </a:r>
            <a:r>
              <a:rPr lang="pl-PL" sz="1200" dirty="0" err="1" smtClean="0"/>
              <a:t>discretization</a:t>
            </a:r>
            <a:r>
              <a:rPr lang="pl-PL" sz="1200" dirty="0" smtClean="0"/>
              <a:t> </a:t>
            </a:r>
            <a:r>
              <a:rPr lang="pl-PL" sz="1200" dirty="0" err="1" smtClean="0"/>
              <a:t>using</a:t>
            </a:r>
            <a:r>
              <a:rPr lang="pl-PL" sz="1200" dirty="0" smtClean="0"/>
              <a:t> </a:t>
            </a:r>
            <a:r>
              <a:rPr lang="pl-PL" sz="1200" dirty="0" err="1" smtClean="0"/>
              <a:t>shallow</a:t>
            </a:r>
            <a:r>
              <a:rPr lang="pl-PL" sz="1200" dirty="0" smtClean="0"/>
              <a:t> </a:t>
            </a:r>
            <a:r>
              <a:rPr lang="pl-PL" sz="1200" dirty="0" err="1" smtClean="0"/>
              <a:t>Univariate</a:t>
            </a:r>
            <a:r>
              <a:rPr lang="pl-PL" sz="1200" dirty="0" smtClean="0"/>
              <a:t> </a:t>
            </a:r>
            <a:r>
              <a:rPr lang="pl-PL" sz="1200" dirty="0" err="1" smtClean="0"/>
              <a:t>Decision</a:t>
            </a:r>
            <a:r>
              <a:rPr lang="pl-PL" sz="1200" dirty="0" smtClean="0"/>
              <a:t> </a:t>
            </a:r>
            <a:r>
              <a:rPr lang="pl-PL" sz="1200" dirty="0" err="1" smtClean="0"/>
              <a:t>Trees</a:t>
            </a:r>
            <a:endParaRPr lang="pl-PL" sz="1200" dirty="0" smtClean="0"/>
          </a:p>
          <a:p>
            <a:pPr lvl="1" indent="-180000">
              <a:buFont typeface="Arial" pitchFamily="34" charset="0"/>
              <a:buChar char="•"/>
            </a:pPr>
            <a:r>
              <a:rPr lang="pl-PL" sz="1200" dirty="0" smtClean="0"/>
              <a:t>one hot </a:t>
            </a:r>
            <a:r>
              <a:rPr lang="pl-PL" sz="1200" dirty="0" err="1" smtClean="0"/>
              <a:t>encoding</a:t>
            </a:r>
            <a:endParaRPr lang="en-US" sz="1200" dirty="0" smtClean="0"/>
          </a:p>
          <a:p>
            <a:pPr indent="-180000">
              <a:buFont typeface="Arial" pitchFamily="34" charset="0"/>
              <a:buChar char="•"/>
            </a:pPr>
            <a:r>
              <a:rPr lang="en-US" sz="1200" dirty="0" smtClean="0"/>
              <a:t>interactions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200" dirty="0" smtClean="0"/>
              <a:t>time-series approach</a:t>
            </a:r>
            <a:endParaRPr lang="pl-PL" sz="1200" dirty="0" smtClean="0"/>
          </a:p>
          <a:p>
            <a:pPr lvl="1" indent="-180000">
              <a:buFont typeface="Arial" pitchFamily="34" charset="0"/>
              <a:buChar char="•"/>
            </a:pPr>
            <a:r>
              <a:rPr lang="pl-PL" sz="1200" dirty="0" smtClean="0"/>
              <a:t>Dependent </a:t>
            </a:r>
            <a:r>
              <a:rPr lang="pl-PL" sz="1200" dirty="0" err="1" smtClean="0"/>
              <a:t>variable</a:t>
            </a:r>
            <a:r>
              <a:rPr lang="pl-PL" sz="1200" dirty="0" smtClean="0"/>
              <a:t> </a:t>
            </a:r>
            <a:r>
              <a:rPr lang="pl-PL" sz="1200" dirty="0" err="1" smtClean="0"/>
              <a:t>lagging</a:t>
            </a:r>
            <a:r>
              <a:rPr lang="pl-PL" sz="1200" dirty="0" smtClean="0"/>
              <a:t> </a:t>
            </a:r>
            <a:r>
              <a:rPr lang="pl-PL" sz="1200" dirty="0" err="1" smtClean="0"/>
              <a:t>based</a:t>
            </a:r>
            <a:r>
              <a:rPr lang="pl-PL" sz="1200" dirty="0" smtClean="0"/>
              <a:t> on </a:t>
            </a:r>
            <a:r>
              <a:rPr lang="pl-PL" sz="1200" dirty="0" err="1" smtClean="0"/>
              <a:t>autoARIMA</a:t>
            </a:r>
            <a:r>
              <a:rPr lang="pl-PL" sz="1200" dirty="0" smtClean="0"/>
              <a:t> model (</a:t>
            </a:r>
            <a:r>
              <a:rPr lang="pl-PL" sz="1200" dirty="0" err="1" smtClean="0"/>
              <a:t>significance</a:t>
            </a:r>
            <a:r>
              <a:rPr lang="pl-PL" sz="1200" dirty="0" smtClean="0"/>
              <a:t> of AR </a:t>
            </a:r>
            <a:r>
              <a:rPr lang="pl-PL" sz="1200" dirty="0" err="1" smtClean="0"/>
              <a:t>process</a:t>
            </a:r>
            <a:r>
              <a:rPr lang="pl-PL" sz="1200" dirty="0" smtClean="0"/>
              <a:t>)</a:t>
            </a:r>
          </a:p>
          <a:p>
            <a:pPr lvl="1" indent="-180000">
              <a:buFont typeface="Arial" pitchFamily="34" charset="0"/>
              <a:buChar char="•"/>
            </a:pPr>
            <a:r>
              <a:rPr lang="pl-PL" sz="1200" dirty="0" smtClean="0"/>
              <a:t>Independent </a:t>
            </a:r>
            <a:r>
              <a:rPr lang="pl-PL" sz="1200" dirty="0" err="1" smtClean="0"/>
              <a:t>variables</a:t>
            </a:r>
            <a:r>
              <a:rPr lang="pl-PL" sz="1200" dirty="0" smtClean="0"/>
              <a:t> </a:t>
            </a:r>
            <a:r>
              <a:rPr lang="pl-PL" sz="1200" dirty="0" err="1" smtClean="0"/>
              <a:t>lagging</a:t>
            </a:r>
            <a:r>
              <a:rPr lang="pl-PL" sz="1200" dirty="0" smtClean="0"/>
              <a:t> </a:t>
            </a:r>
            <a:r>
              <a:rPr lang="pl-PL" sz="1200" dirty="0" err="1" smtClean="0"/>
              <a:t>based</a:t>
            </a:r>
            <a:r>
              <a:rPr lang="pl-PL" sz="1200" dirty="0" smtClean="0"/>
              <a:t> on </a:t>
            </a:r>
            <a:r>
              <a:rPr lang="pl-PL" sz="1200" dirty="0" err="1" smtClean="0"/>
              <a:t>autoARIMA</a:t>
            </a:r>
            <a:r>
              <a:rPr lang="pl-PL" sz="1200" dirty="0" smtClean="0"/>
              <a:t> model (</a:t>
            </a:r>
            <a:r>
              <a:rPr lang="pl-PL" sz="1200" dirty="0" err="1" smtClean="0"/>
              <a:t>significance</a:t>
            </a:r>
            <a:r>
              <a:rPr lang="pl-PL" sz="1200" dirty="0" smtClean="0"/>
              <a:t> of AR </a:t>
            </a:r>
            <a:r>
              <a:rPr lang="pl-PL" sz="1200" dirty="0" err="1" smtClean="0"/>
              <a:t>process</a:t>
            </a:r>
            <a:r>
              <a:rPr lang="pl-PL" sz="1200" dirty="0" smtClean="0"/>
              <a:t>)</a:t>
            </a:r>
          </a:p>
          <a:p>
            <a:pPr lvl="1" indent="-180000">
              <a:buFont typeface="Arial" pitchFamily="34" charset="0"/>
              <a:buChar char="•"/>
            </a:pPr>
            <a:r>
              <a:rPr lang="pl-PL" sz="1200" dirty="0" err="1" smtClean="0"/>
              <a:t>Moving</a:t>
            </a:r>
            <a:r>
              <a:rPr lang="pl-PL" sz="1200" dirty="0" smtClean="0"/>
              <a:t> </a:t>
            </a:r>
            <a:r>
              <a:rPr lang="pl-PL" sz="1200" dirty="0" err="1" smtClean="0"/>
              <a:t>Avarage</a:t>
            </a:r>
            <a:r>
              <a:rPr lang="pl-PL" sz="1200" dirty="0" smtClean="0"/>
              <a:t> of dependent </a:t>
            </a:r>
            <a:r>
              <a:rPr lang="pl-PL" sz="1200" dirty="0" err="1" smtClean="0"/>
              <a:t>variable</a:t>
            </a:r>
            <a:r>
              <a:rPr lang="pl-PL" sz="1200" dirty="0" smtClean="0"/>
              <a:t> </a:t>
            </a:r>
            <a:r>
              <a:rPr lang="pl-PL" sz="1200" dirty="0" err="1" smtClean="0"/>
              <a:t>based</a:t>
            </a:r>
            <a:r>
              <a:rPr lang="pl-PL" sz="1200" dirty="0" smtClean="0"/>
              <a:t> on </a:t>
            </a:r>
            <a:r>
              <a:rPr lang="pl-PL" sz="1200" dirty="0" err="1" smtClean="0"/>
              <a:t>autoARIMA</a:t>
            </a:r>
            <a:r>
              <a:rPr lang="pl-PL" sz="1200" dirty="0" smtClean="0"/>
              <a:t> model (</a:t>
            </a:r>
            <a:r>
              <a:rPr lang="pl-PL" sz="1200" dirty="0" err="1" smtClean="0"/>
              <a:t>significance</a:t>
            </a:r>
            <a:r>
              <a:rPr lang="pl-PL" sz="1200" dirty="0" smtClean="0"/>
              <a:t> of MA </a:t>
            </a:r>
            <a:r>
              <a:rPr lang="pl-PL" sz="1200" dirty="0" err="1" smtClean="0"/>
              <a:t>process</a:t>
            </a:r>
            <a:r>
              <a:rPr lang="pl-PL" sz="1200" dirty="0" smtClean="0"/>
              <a:t>)</a:t>
            </a:r>
          </a:p>
          <a:p>
            <a:pPr lvl="1" indent="-180000">
              <a:buFont typeface="Arial" pitchFamily="34" charset="0"/>
              <a:buChar char="•"/>
            </a:pPr>
            <a:r>
              <a:rPr lang="pl-PL" sz="1200" dirty="0" err="1" smtClean="0"/>
              <a:t>Moving</a:t>
            </a:r>
            <a:r>
              <a:rPr lang="pl-PL" sz="1200" dirty="0" smtClean="0"/>
              <a:t> </a:t>
            </a:r>
            <a:r>
              <a:rPr lang="pl-PL" sz="1200" dirty="0" err="1" smtClean="0"/>
              <a:t>Avarage</a:t>
            </a:r>
            <a:r>
              <a:rPr lang="pl-PL" sz="1200" dirty="0" smtClean="0"/>
              <a:t> of independent </a:t>
            </a:r>
            <a:r>
              <a:rPr lang="pl-PL" sz="1200" dirty="0" err="1" smtClean="0"/>
              <a:t>variables</a:t>
            </a:r>
            <a:r>
              <a:rPr lang="pl-PL" sz="1200" dirty="0" smtClean="0"/>
              <a:t> </a:t>
            </a:r>
            <a:r>
              <a:rPr lang="pl-PL" sz="1200" dirty="0" err="1" smtClean="0"/>
              <a:t>based</a:t>
            </a:r>
            <a:r>
              <a:rPr lang="pl-PL" sz="1200" dirty="0" smtClean="0"/>
              <a:t> on </a:t>
            </a:r>
            <a:r>
              <a:rPr lang="pl-PL" sz="1200" dirty="0" err="1" smtClean="0"/>
              <a:t>autoARIMA</a:t>
            </a:r>
            <a:r>
              <a:rPr lang="pl-PL" sz="1200" dirty="0" smtClean="0"/>
              <a:t> model (</a:t>
            </a:r>
            <a:r>
              <a:rPr lang="pl-PL" sz="1200" dirty="0" err="1" smtClean="0"/>
              <a:t>significance</a:t>
            </a:r>
            <a:r>
              <a:rPr lang="pl-PL" sz="1200" dirty="0" smtClean="0"/>
              <a:t> of MA </a:t>
            </a:r>
            <a:r>
              <a:rPr lang="pl-PL" sz="1200" dirty="0" err="1" smtClean="0"/>
              <a:t>process</a:t>
            </a:r>
            <a:r>
              <a:rPr lang="pl-PL" sz="1200" dirty="0" smtClean="0"/>
              <a:t>)</a:t>
            </a:r>
          </a:p>
          <a:p>
            <a:pPr lvl="1" indent="-180000"/>
            <a:endParaRPr lang="en-US" sz="1200" dirty="0" smtClean="0"/>
          </a:p>
          <a:p>
            <a:pPr indent="-180000"/>
            <a:endParaRPr lang="pl-PL" sz="1200" b="1" dirty="0" smtClean="0"/>
          </a:p>
        </p:txBody>
      </p:sp>
    </p:spTree>
    <p:extLst>
      <p:ext uri="{BB962C8B-B14F-4D97-AF65-F5344CB8AC3E}">
        <p14:creationId xmlns:p14="http://schemas.microsoft.com/office/powerpoint/2010/main" val="4235668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8ED3F5D5-D987-4CD0-A25C-52F18EDA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58" y="71420"/>
            <a:ext cx="8229600" cy="85725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</a:pPr>
            <a:r>
              <a:rPr lang="pl-PL" sz="2800" b="1" dirty="0" err="1" smtClean="0">
                <a:cs typeface="Segoe UI Light"/>
              </a:rPr>
              <a:t>Feature</a:t>
            </a:r>
            <a:r>
              <a:rPr lang="pl-PL" sz="2800" b="1" dirty="0" smtClean="0">
                <a:cs typeface="Segoe UI Light"/>
              </a:rPr>
              <a:t> </a:t>
            </a:r>
            <a:r>
              <a:rPr lang="pl-PL" sz="2800" b="1" dirty="0" err="1" smtClean="0">
                <a:cs typeface="Segoe UI Light"/>
              </a:rPr>
              <a:t>selection</a:t>
            </a:r>
            <a:endParaRPr lang="pl-PL" sz="2800" b="1" dirty="0" smtClean="0">
              <a:cs typeface="Segoe UI Light"/>
            </a:endParaRPr>
          </a:p>
        </p:txBody>
      </p:sp>
      <p:sp>
        <p:nvSpPr>
          <p:cNvPr id="18434" name="AutoShape 2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36" name="AutoShape 4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39" name="AutoShape 7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41" name="AutoShape 9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7" name="pole tekstowe 6"/>
          <p:cNvSpPr txBox="1"/>
          <p:nvPr/>
        </p:nvSpPr>
        <p:spPr>
          <a:xfrm>
            <a:off x="428596" y="785800"/>
            <a:ext cx="607223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0000"/>
            <a:r>
              <a:rPr lang="en-US" sz="1100" b="1" dirty="0" smtClean="0"/>
              <a:t>The selection of variables for the model was carried out individually for each model</a:t>
            </a:r>
            <a:r>
              <a:rPr lang="pl-PL" sz="1100" b="1" dirty="0" smtClean="0"/>
              <a:t> </a:t>
            </a:r>
            <a:r>
              <a:rPr lang="pl-PL" sz="1100" b="1" dirty="0" err="1" smtClean="0"/>
              <a:t>class</a:t>
            </a:r>
            <a:r>
              <a:rPr lang="en-US" sz="1100" b="1" dirty="0" smtClean="0"/>
              <a:t>.</a:t>
            </a:r>
            <a:endParaRPr lang="pl-PL" sz="1100" b="1" dirty="0" smtClean="0"/>
          </a:p>
          <a:p>
            <a:pPr indent="-180000"/>
            <a:endParaRPr lang="pl-PL" sz="1100" dirty="0" smtClean="0"/>
          </a:p>
          <a:p>
            <a:pPr indent="-180000"/>
            <a:r>
              <a:rPr lang="en-US" sz="1100" dirty="0" smtClean="0"/>
              <a:t>The feature selection process is divided into </a:t>
            </a:r>
            <a:r>
              <a:rPr lang="en-US" sz="1100" b="1" dirty="0" smtClean="0"/>
              <a:t>two stages</a:t>
            </a:r>
            <a:r>
              <a:rPr lang="en-US" sz="1100" dirty="0" smtClean="0"/>
              <a:t>.</a:t>
            </a:r>
            <a:endParaRPr lang="pl-PL" sz="1100" dirty="0" smtClean="0"/>
          </a:p>
          <a:p>
            <a:pPr indent="-180000"/>
            <a:endParaRPr lang="pl-PL" sz="1100" dirty="0" smtClean="0"/>
          </a:p>
          <a:p>
            <a:pPr indent="-180000"/>
            <a:r>
              <a:rPr lang="en-US" sz="1100" b="1" dirty="0" smtClean="0"/>
              <a:t>The first stage </a:t>
            </a:r>
            <a:r>
              <a:rPr lang="en-US" sz="1100" dirty="0" smtClean="0"/>
              <a:t>was to create </a:t>
            </a:r>
            <a:r>
              <a:rPr lang="pl-PL" sz="1100" dirty="0" smtClean="0"/>
              <a:t>ranking of </a:t>
            </a:r>
            <a:r>
              <a:rPr lang="en-US" sz="1100" dirty="0" smtClean="0"/>
              <a:t>variables based on many techniques:</a:t>
            </a:r>
            <a:endParaRPr lang="pl-PL" sz="1100" dirty="0" smtClean="0"/>
          </a:p>
          <a:p>
            <a:pPr indent="-180000">
              <a:buFont typeface="Arial" pitchFamily="34" charset="0"/>
              <a:buChar char="•"/>
            </a:pPr>
            <a:r>
              <a:rPr lang="pl-PL" sz="1100" dirty="0" err="1" smtClean="0"/>
              <a:t>Univariate</a:t>
            </a:r>
            <a:r>
              <a:rPr lang="pl-PL" sz="1100" dirty="0" smtClean="0"/>
              <a:t> </a:t>
            </a:r>
            <a:r>
              <a:rPr lang="pl-PL" sz="1100" dirty="0" err="1" smtClean="0"/>
              <a:t>approach</a:t>
            </a:r>
            <a:r>
              <a:rPr lang="pl-PL" sz="1100" dirty="0" smtClean="0"/>
              <a:t>:</a:t>
            </a:r>
          </a:p>
          <a:p>
            <a:pPr lvl="1" indent="-180000">
              <a:buFont typeface="Arial" pitchFamily="34" charset="0"/>
              <a:buChar char="•"/>
            </a:pPr>
            <a:r>
              <a:rPr lang="pl-PL" sz="1100" dirty="0" err="1" smtClean="0"/>
              <a:t>Variance</a:t>
            </a:r>
            <a:r>
              <a:rPr lang="pl-PL" sz="1100" dirty="0" smtClean="0"/>
              <a:t> </a:t>
            </a:r>
            <a:r>
              <a:rPr lang="pl-PL" sz="1100" dirty="0" err="1" smtClean="0"/>
              <a:t>Threshold</a:t>
            </a:r>
            <a:r>
              <a:rPr lang="pl-PL" sz="1100" dirty="0" smtClean="0"/>
              <a:t>, Mutual </a:t>
            </a:r>
            <a:r>
              <a:rPr lang="pl-PL" sz="1100" dirty="0" err="1" smtClean="0"/>
              <a:t>Information</a:t>
            </a:r>
            <a:r>
              <a:rPr lang="pl-PL" sz="1100" dirty="0" smtClean="0"/>
              <a:t>, </a:t>
            </a:r>
            <a:r>
              <a:rPr lang="pl-PL" sz="1100" dirty="0" err="1" smtClean="0"/>
              <a:t>F-test</a:t>
            </a:r>
            <a:r>
              <a:rPr lang="pl-PL" sz="1100" dirty="0" smtClean="0"/>
              <a:t>, </a:t>
            </a:r>
            <a:r>
              <a:rPr lang="pl-PL" sz="1100" dirty="0" err="1" smtClean="0"/>
              <a:t>Spearman</a:t>
            </a:r>
            <a:r>
              <a:rPr lang="pl-PL" sz="1100" dirty="0" smtClean="0"/>
              <a:t> </a:t>
            </a:r>
            <a:r>
              <a:rPr lang="pl-PL" sz="1100" dirty="0" err="1" smtClean="0"/>
              <a:t>Correlation</a:t>
            </a:r>
            <a:endParaRPr lang="pl-PL" sz="1100" dirty="0" smtClean="0"/>
          </a:p>
          <a:p>
            <a:pPr indent="-180000">
              <a:buFont typeface="Arial" pitchFamily="34" charset="0"/>
              <a:buChar char="•"/>
            </a:pPr>
            <a:r>
              <a:rPr lang="pl-PL" sz="1100" dirty="0" err="1" smtClean="0"/>
              <a:t>Wrapper</a:t>
            </a:r>
            <a:r>
              <a:rPr lang="pl-PL" sz="1100" dirty="0" smtClean="0"/>
              <a:t> </a:t>
            </a:r>
            <a:r>
              <a:rPr lang="pl-PL" sz="1100" dirty="0" err="1" smtClean="0"/>
              <a:t>methods</a:t>
            </a:r>
            <a:r>
              <a:rPr lang="pl-PL" sz="1100" dirty="0" smtClean="0"/>
              <a:t>:</a:t>
            </a:r>
          </a:p>
          <a:p>
            <a:pPr lvl="1" indent="-180000">
              <a:buFont typeface="Arial" pitchFamily="34" charset="0"/>
              <a:buChar char="•"/>
            </a:pPr>
            <a:r>
              <a:rPr lang="pl-PL" sz="1100" dirty="0" err="1" smtClean="0"/>
              <a:t>Elastic</a:t>
            </a:r>
            <a:r>
              <a:rPr lang="pl-PL" sz="1100" dirty="0" smtClean="0"/>
              <a:t> Net, Boruta</a:t>
            </a:r>
          </a:p>
          <a:p>
            <a:pPr lvl="1" indent="-180000"/>
            <a:endParaRPr lang="pl-PL" sz="1100" dirty="0" smtClean="0"/>
          </a:p>
          <a:p>
            <a:pPr indent="-180000"/>
            <a:r>
              <a:rPr lang="pl-PL" sz="1100" b="1" dirty="0" err="1" smtClean="0"/>
              <a:t>The</a:t>
            </a:r>
            <a:r>
              <a:rPr lang="pl-PL" sz="1100" b="1" dirty="0" smtClean="0"/>
              <a:t> </a:t>
            </a:r>
            <a:r>
              <a:rPr lang="pl-PL" sz="1100" b="1" dirty="0" err="1" smtClean="0"/>
              <a:t>second</a:t>
            </a:r>
            <a:r>
              <a:rPr lang="pl-PL" sz="1100" b="1" dirty="0" smtClean="0"/>
              <a:t> </a:t>
            </a:r>
            <a:r>
              <a:rPr lang="pl-PL" sz="1100" b="1" dirty="0" err="1" smtClean="0"/>
              <a:t>stage</a:t>
            </a:r>
            <a:r>
              <a:rPr lang="pl-PL" sz="1100" dirty="0" smtClean="0"/>
              <a:t> </a:t>
            </a:r>
            <a:r>
              <a:rPr lang="en-US" sz="1100" dirty="0" smtClean="0"/>
              <a:t>was carried out individually for each model</a:t>
            </a:r>
            <a:r>
              <a:rPr lang="pl-PL" sz="1100" dirty="0" smtClean="0"/>
              <a:t>:</a:t>
            </a:r>
          </a:p>
          <a:p>
            <a:pPr indent="-180000">
              <a:buFont typeface="Arial" pitchFamily="34" charset="0"/>
              <a:buChar char="•"/>
            </a:pPr>
            <a:r>
              <a:rPr lang="pl-PL" sz="1100" b="1" dirty="0" smtClean="0"/>
              <a:t>OLS </a:t>
            </a:r>
            <a:r>
              <a:rPr lang="pl-PL" sz="1100" dirty="0" err="1" smtClean="0"/>
              <a:t>feature</a:t>
            </a:r>
            <a:r>
              <a:rPr lang="pl-PL" sz="1100" dirty="0" smtClean="0"/>
              <a:t> </a:t>
            </a:r>
            <a:r>
              <a:rPr lang="pl-PL" sz="1100" dirty="0" err="1" smtClean="0"/>
              <a:t>candidates</a:t>
            </a:r>
            <a:r>
              <a:rPr lang="pl-PL" sz="1100" dirty="0" smtClean="0"/>
              <a:t> </a:t>
            </a:r>
            <a:r>
              <a:rPr lang="pl-PL" sz="1100" dirty="0" err="1" smtClean="0"/>
              <a:t>based</a:t>
            </a:r>
            <a:r>
              <a:rPr lang="pl-PL" sz="1100" dirty="0" smtClean="0"/>
              <a:t> on:</a:t>
            </a:r>
            <a:endParaRPr lang="pl-PL" sz="1100" b="1" dirty="0" smtClean="0"/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err="1" smtClean="0"/>
              <a:t>Elastic</a:t>
            </a:r>
            <a:r>
              <a:rPr lang="pl-PL" sz="1100" dirty="0" smtClean="0"/>
              <a:t> Net</a:t>
            </a:r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err="1" smtClean="0"/>
              <a:t>Recursive</a:t>
            </a:r>
            <a:r>
              <a:rPr lang="pl-PL" sz="1100" dirty="0" smtClean="0"/>
              <a:t> </a:t>
            </a:r>
            <a:r>
              <a:rPr lang="pl-PL" sz="1100" dirty="0" err="1" smtClean="0"/>
              <a:t>Feature</a:t>
            </a:r>
            <a:r>
              <a:rPr lang="pl-PL" sz="1100" dirty="0" smtClean="0"/>
              <a:t> </a:t>
            </a:r>
            <a:r>
              <a:rPr lang="pl-PL" sz="1100" dirty="0" err="1" smtClean="0"/>
              <a:t>Elimination</a:t>
            </a:r>
            <a:endParaRPr lang="pl-PL" sz="1100" dirty="0" smtClean="0"/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err="1" smtClean="0"/>
              <a:t>Permutation</a:t>
            </a:r>
            <a:r>
              <a:rPr lang="pl-PL" sz="1100" dirty="0" smtClean="0"/>
              <a:t> </a:t>
            </a:r>
            <a:r>
              <a:rPr lang="pl-PL" sz="1100" dirty="0" err="1" smtClean="0"/>
              <a:t>importance</a:t>
            </a:r>
            <a:endParaRPr lang="pl-PL" sz="1100" dirty="0" smtClean="0"/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err="1" smtClean="0"/>
              <a:t>Forward</a:t>
            </a:r>
            <a:r>
              <a:rPr lang="pl-PL" sz="1100" dirty="0" smtClean="0"/>
              <a:t> </a:t>
            </a:r>
            <a:r>
              <a:rPr lang="pl-PL" sz="1100" dirty="0" err="1" smtClean="0"/>
              <a:t>elimination</a:t>
            </a:r>
            <a:endParaRPr lang="pl-PL" sz="1100" dirty="0" smtClean="0"/>
          </a:p>
          <a:p>
            <a:pPr lvl="1" indent="-180000">
              <a:buFont typeface="Wingdings" pitchFamily="2" charset="2"/>
              <a:buChar char="§"/>
            </a:pPr>
            <a:endParaRPr lang="pl-PL" sz="1100" dirty="0" smtClean="0"/>
          </a:p>
          <a:p>
            <a:pPr indent="-180000">
              <a:buFont typeface="Arial" pitchFamily="34" charset="0"/>
              <a:buChar char="•"/>
            </a:pPr>
            <a:r>
              <a:rPr lang="pl-PL" sz="1100" b="1" dirty="0" smtClean="0"/>
              <a:t>ARDL </a:t>
            </a:r>
            <a:r>
              <a:rPr lang="pl-PL" sz="1100" dirty="0" err="1" smtClean="0"/>
              <a:t>feature</a:t>
            </a:r>
            <a:r>
              <a:rPr lang="pl-PL" sz="1100" dirty="0" smtClean="0"/>
              <a:t> </a:t>
            </a:r>
            <a:r>
              <a:rPr lang="pl-PL" sz="1100" dirty="0" err="1" smtClean="0"/>
              <a:t>candidates</a:t>
            </a:r>
            <a:r>
              <a:rPr lang="pl-PL" sz="1100" dirty="0" smtClean="0"/>
              <a:t> </a:t>
            </a:r>
            <a:r>
              <a:rPr lang="pl-PL" sz="1100" dirty="0" err="1" smtClean="0"/>
              <a:t>based</a:t>
            </a:r>
            <a:r>
              <a:rPr lang="pl-PL" sz="1100" dirty="0" smtClean="0"/>
              <a:t> on:</a:t>
            </a:r>
            <a:endParaRPr lang="pl-PL" sz="1100" b="1" dirty="0" smtClean="0"/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err="1" smtClean="0"/>
              <a:t>Elastic</a:t>
            </a:r>
            <a:r>
              <a:rPr lang="pl-PL" sz="1100" dirty="0" smtClean="0"/>
              <a:t> Net</a:t>
            </a:r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smtClean="0"/>
              <a:t>Boruta</a:t>
            </a:r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err="1" smtClean="0"/>
              <a:t>Recursive</a:t>
            </a:r>
            <a:r>
              <a:rPr lang="pl-PL" sz="1100" dirty="0" smtClean="0"/>
              <a:t> </a:t>
            </a:r>
            <a:r>
              <a:rPr lang="pl-PL" sz="1100" dirty="0" err="1" smtClean="0"/>
              <a:t>Feature</a:t>
            </a:r>
            <a:r>
              <a:rPr lang="pl-PL" sz="1100" dirty="0" smtClean="0"/>
              <a:t> </a:t>
            </a:r>
            <a:r>
              <a:rPr lang="pl-PL" sz="1100" dirty="0" err="1" smtClean="0"/>
              <a:t>Elimination</a:t>
            </a:r>
            <a:endParaRPr lang="pl-PL" sz="1100" dirty="0" smtClean="0"/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err="1" smtClean="0"/>
              <a:t>Permutation</a:t>
            </a:r>
            <a:r>
              <a:rPr lang="pl-PL" sz="1100" dirty="0" smtClean="0"/>
              <a:t> </a:t>
            </a:r>
            <a:r>
              <a:rPr lang="pl-PL" sz="1100" dirty="0" err="1" smtClean="0"/>
              <a:t>importance</a:t>
            </a:r>
            <a:endParaRPr lang="pl-PL" sz="1100" dirty="0" smtClean="0"/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err="1" smtClean="0"/>
              <a:t>Forward</a:t>
            </a:r>
            <a:r>
              <a:rPr lang="pl-PL" sz="1100" dirty="0" smtClean="0"/>
              <a:t> </a:t>
            </a:r>
            <a:r>
              <a:rPr lang="pl-PL" sz="1100" dirty="0" err="1" smtClean="0"/>
              <a:t>elimination</a:t>
            </a:r>
            <a:endParaRPr lang="pl-PL" sz="1100" dirty="0" smtClean="0"/>
          </a:p>
          <a:p>
            <a:pPr lvl="1" indent="-180000">
              <a:buFont typeface="Wingdings" pitchFamily="2" charset="2"/>
              <a:buChar char="§"/>
            </a:pPr>
            <a:endParaRPr lang="pl-PL" sz="1100" dirty="0" smtClean="0"/>
          </a:p>
        </p:txBody>
      </p:sp>
      <p:sp>
        <p:nvSpPr>
          <p:cNvPr id="8" name="pole tekstowe 7"/>
          <p:cNvSpPr txBox="1"/>
          <p:nvPr/>
        </p:nvSpPr>
        <p:spPr>
          <a:xfrm>
            <a:off x="3571868" y="2643188"/>
            <a:ext cx="427675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0000">
              <a:buFont typeface="Arial" pitchFamily="34" charset="0"/>
              <a:buChar char="•"/>
            </a:pPr>
            <a:r>
              <a:rPr lang="pl-PL" sz="1100" b="1" dirty="0" smtClean="0"/>
              <a:t>KNN </a:t>
            </a:r>
            <a:r>
              <a:rPr lang="pl-PL" sz="1100" dirty="0" err="1" smtClean="0"/>
              <a:t>feature</a:t>
            </a:r>
            <a:r>
              <a:rPr lang="pl-PL" sz="1100" dirty="0" smtClean="0"/>
              <a:t> </a:t>
            </a:r>
            <a:r>
              <a:rPr lang="pl-PL" sz="1100" dirty="0" err="1" smtClean="0"/>
              <a:t>candidates</a:t>
            </a:r>
            <a:r>
              <a:rPr lang="pl-PL" sz="1100" dirty="0" smtClean="0"/>
              <a:t> </a:t>
            </a:r>
            <a:r>
              <a:rPr lang="pl-PL" sz="1100" dirty="0" err="1" smtClean="0"/>
              <a:t>based</a:t>
            </a:r>
            <a:r>
              <a:rPr lang="pl-PL" sz="1100" dirty="0" smtClean="0"/>
              <a:t> on:</a:t>
            </a:r>
            <a:endParaRPr lang="pl-PL" sz="1100" b="1" dirty="0" smtClean="0"/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err="1" smtClean="0"/>
              <a:t>Elastic</a:t>
            </a:r>
            <a:r>
              <a:rPr lang="pl-PL" sz="1100" dirty="0" smtClean="0"/>
              <a:t> Net</a:t>
            </a:r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smtClean="0"/>
              <a:t>Mutual </a:t>
            </a:r>
            <a:r>
              <a:rPr lang="pl-PL" sz="1100" dirty="0" err="1" smtClean="0"/>
              <a:t>Information</a:t>
            </a:r>
            <a:endParaRPr lang="pl-PL" sz="1100" dirty="0" smtClean="0"/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err="1" smtClean="0"/>
              <a:t>Spearman</a:t>
            </a:r>
            <a:r>
              <a:rPr lang="pl-PL" sz="1100" dirty="0" smtClean="0"/>
              <a:t> </a:t>
            </a:r>
            <a:r>
              <a:rPr lang="pl-PL" sz="1100" dirty="0" err="1" smtClean="0"/>
              <a:t>Correlation</a:t>
            </a:r>
            <a:endParaRPr lang="pl-PL" sz="1100" dirty="0" smtClean="0"/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smtClean="0"/>
              <a:t>Relief</a:t>
            </a:r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err="1" smtClean="0"/>
              <a:t>Forward</a:t>
            </a:r>
            <a:r>
              <a:rPr lang="pl-PL" sz="1100" dirty="0" smtClean="0"/>
              <a:t> </a:t>
            </a:r>
            <a:r>
              <a:rPr lang="pl-PL" sz="1100" dirty="0" err="1" smtClean="0"/>
              <a:t>elimination</a:t>
            </a:r>
            <a:endParaRPr lang="pl-PL" sz="1100" dirty="0" smtClean="0"/>
          </a:p>
          <a:p>
            <a:pPr lvl="1" indent="-180000">
              <a:buFont typeface="Wingdings" pitchFamily="2" charset="2"/>
              <a:buChar char="§"/>
            </a:pPr>
            <a:endParaRPr lang="pl-PL" sz="1100" dirty="0" smtClean="0"/>
          </a:p>
          <a:p>
            <a:pPr indent="-180000">
              <a:buFont typeface="Arial" pitchFamily="34" charset="0"/>
              <a:buChar char="•"/>
            </a:pPr>
            <a:r>
              <a:rPr lang="pl-PL" sz="1100" b="1" dirty="0" smtClean="0"/>
              <a:t>SVR </a:t>
            </a:r>
            <a:r>
              <a:rPr lang="pl-PL" sz="1100" dirty="0" err="1" smtClean="0"/>
              <a:t>feature</a:t>
            </a:r>
            <a:r>
              <a:rPr lang="pl-PL" sz="1100" dirty="0" smtClean="0"/>
              <a:t> </a:t>
            </a:r>
            <a:r>
              <a:rPr lang="pl-PL" sz="1100" dirty="0" err="1" smtClean="0"/>
              <a:t>candidates</a:t>
            </a:r>
            <a:r>
              <a:rPr lang="pl-PL" sz="1100" dirty="0" smtClean="0"/>
              <a:t> </a:t>
            </a:r>
            <a:r>
              <a:rPr lang="pl-PL" sz="1100" dirty="0" err="1" smtClean="0"/>
              <a:t>based</a:t>
            </a:r>
            <a:r>
              <a:rPr lang="pl-PL" sz="1100" dirty="0" smtClean="0"/>
              <a:t> on:</a:t>
            </a:r>
            <a:endParaRPr lang="pl-PL" sz="1100" b="1" dirty="0" smtClean="0"/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err="1" smtClean="0"/>
              <a:t>Elastic</a:t>
            </a:r>
            <a:r>
              <a:rPr lang="pl-PL" sz="1100" dirty="0" smtClean="0"/>
              <a:t> Net</a:t>
            </a:r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smtClean="0"/>
              <a:t>Boruta</a:t>
            </a:r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smtClean="0"/>
              <a:t>Mutual </a:t>
            </a:r>
            <a:r>
              <a:rPr lang="pl-PL" sz="1100" dirty="0" err="1" smtClean="0"/>
              <a:t>Information</a:t>
            </a:r>
            <a:endParaRPr lang="pl-PL" sz="1100" dirty="0" smtClean="0"/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err="1" smtClean="0"/>
              <a:t>Recursive</a:t>
            </a:r>
            <a:r>
              <a:rPr lang="pl-PL" sz="1100" dirty="0" smtClean="0"/>
              <a:t> </a:t>
            </a:r>
            <a:r>
              <a:rPr lang="pl-PL" sz="1100" dirty="0" err="1" smtClean="0"/>
              <a:t>Feature</a:t>
            </a:r>
            <a:r>
              <a:rPr lang="pl-PL" sz="1100" dirty="0" smtClean="0"/>
              <a:t> </a:t>
            </a:r>
            <a:r>
              <a:rPr lang="pl-PL" sz="1100" dirty="0" err="1" smtClean="0"/>
              <a:t>Elimination</a:t>
            </a:r>
            <a:endParaRPr lang="pl-PL" sz="1100" dirty="0" smtClean="0"/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err="1" smtClean="0"/>
              <a:t>Permutation</a:t>
            </a:r>
            <a:r>
              <a:rPr lang="pl-PL" sz="1100" dirty="0" smtClean="0"/>
              <a:t> </a:t>
            </a:r>
            <a:r>
              <a:rPr lang="pl-PL" sz="1100" dirty="0" err="1" smtClean="0"/>
              <a:t>importance</a:t>
            </a:r>
            <a:endParaRPr lang="pl-PL" sz="1100" dirty="0" smtClean="0"/>
          </a:p>
          <a:p>
            <a:pPr lvl="1" indent="-180000">
              <a:buFont typeface="Wingdings" pitchFamily="2" charset="2"/>
              <a:buChar char="§"/>
            </a:pPr>
            <a:r>
              <a:rPr lang="pl-PL" sz="1100" dirty="0" err="1" smtClean="0"/>
              <a:t>Forward</a:t>
            </a:r>
            <a:r>
              <a:rPr lang="pl-PL" sz="1100" dirty="0" smtClean="0"/>
              <a:t> </a:t>
            </a:r>
            <a:r>
              <a:rPr lang="pl-PL" sz="1100" dirty="0" err="1" smtClean="0"/>
              <a:t>elimination</a:t>
            </a:r>
            <a:endParaRPr lang="pl-PL" sz="1100" dirty="0" smtClean="0"/>
          </a:p>
          <a:p>
            <a:pPr lvl="1" indent="-180000">
              <a:buFont typeface="Wingdings" pitchFamily="2" charset="2"/>
              <a:buChar char="§"/>
            </a:pPr>
            <a:endParaRPr lang="pl-PL" sz="1100" dirty="0" smtClean="0"/>
          </a:p>
        </p:txBody>
      </p:sp>
    </p:spTree>
    <p:extLst>
      <p:ext uri="{BB962C8B-B14F-4D97-AF65-F5344CB8AC3E}">
        <p14:creationId xmlns:p14="http://schemas.microsoft.com/office/powerpoint/2010/main" val="4235668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8ED3F5D5-D987-4CD0-A25C-52F18EDA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58" y="71420"/>
            <a:ext cx="8229600" cy="85725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</a:pPr>
            <a:r>
              <a:rPr lang="pl-PL" sz="2800" b="1" dirty="0" err="1" smtClean="0">
                <a:cs typeface="Segoe UI Light"/>
              </a:rPr>
              <a:t>Modeling</a:t>
            </a:r>
            <a:r>
              <a:rPr lang="pl-PL" sz="2800" b="1" dirty="0" smtClean="0">
                <a:cs typeface="Segoe UI Light"/>
              </a:rPr>
              <a:t> – </a:t>
            </a:r>
            <a:r>
              <a:rPr lang="pl-PL" sz="2800" b="1" dirty="0" err="1" smtClean="0">
                <a:cs typeface="Segoe UI Light"/>
              </a:rPr>
              <a:t>main</a:t>
            </a:r>
            <a:r>
              <a:rPr lang="pl-PL" sz="2800" b="1" dirty="0" smtClean="0">
                <a:cs typeface="Segoe UI Light"/>
              </a:rPr>
              <a:t> </a:t>
            </a:r>
            <a:r>
              <a:rPr lang="pl-PL" sz="2800" b="1" dirty="0" err="1" smtClean="0">
                <a:cs typeface="Segoe UI Light"/>
              </a:rPr>
              <a:t>approach</a:t>
            </a:r>
            <a:endParaRPr lang="pl-PL" sz="2800" b="1" dirty="0" smtClean="0">
              <a:cs typeface="Segoe UI Light"/>
            </a:endParaRPr>
          </a:p>
        </p:txBody>
      </p:sp>
      <p:sp>
        <p:nvSpPr>
          <p:cNvPr id="18434" name="AutoShape 2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36" name="AutoShape 4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39" name="AutoShape 7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41" name="AutoShape 9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8" name="pole tekstowe 7"/>
          <p:cNvSpPr txBox="1"/>
          <p:nvPr/>
        </p:nvSpPr>
        <p:spPr>
          <a:xfrm>
            <a:off x="428596" y="857238"/>
            <a:ext cx="771530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0000"/>
            <a:r>
              <a:rPr lang="en-US" sz="1200" b="1" dirty="0" smtClean="0"/>
              <a:t>We </a:t>
            </a:r>
            <a:r>
              <a:rPr lang="en-US" sz="1200" b="1" dirty="0" err="1" smtClean="0"/>
              <a:t>appl</a:t>
            </a:r>
            <a:r>
              <a:rPr lang="pl-PL" sz="1200" b="1" dirty="0" err="1" smtClean="0"/>
              <a:t>ied</a:t>
            </a:r>
            <a:r>
              <a:rPr lang="pl-PL" sz="1200" b="1" dirty="0" smtClean="0"/>
              <a:t> </a:t>
            </a:r>
            <a:r>
              <a:rPr lang="en-US" sz="1200" b="1" dirty="0" smtClean="0"/>
              <a:t>following </a:t>
            </a:r>
            <a:r>
              <a:rPr lang="pl-PL" sz="1200" b="1" dirty="0" smtClean="0"/>
              <a:t>general </a:t>
            </a:r>
            <a:r>
              <a:rPr lang="en-US" sz="1200" b="1" dirty="0" smtClean="0"/>
              <a:t>approach </a:t>
            </a:r>
            <a:r>
              <a:rPr lang="pl-PL" sz="1200" b="1" dirty="0" smtClean="0"/>
              <a:t>for </a:t>
            </a:r>
            <a:r>
              <a:rPr lang="pl-PL" sz="1200" b="1" dirty="0" err="1" smtClean="0"/>
              <a:t>each</a:t>
            </a:r>
            <a:r>
              <a:rPr lang="pl-PL" sz="1200" b="1" dirty="0" smtClean="0"/>
              <a:t> </a:t>
            </a:r>
            <a:r>
              <a:rPr lang="pl-PL" sz="1200" b="1" dirty="0" err="1" smtClean="0"/>
              <a:t>class</a:t>
            </a:r>
            <a:r>
              <a:rPr lang="pl-PL" sz="1200" b="1" dirty="0" smtClean="0"/>
              <a:t> of </a:t>
            </a:r>
            <a:r>
              <a:rPr lang="pl-PL" sz="1200" b="1" dirty="0" err="1" smtClean="0"/>
              <a:t>models</a:t>
            </a:r>
            <a:r>
              <a:rPr lang="en-US" sz="1200" b="1" dirty="0" smtClean="0"/>
              <a:t>:</a:t>
            </a:r>
          </a:p>
          <a:p>
            <a:pPr marL="48600" indent="-228600">
              <a:buFont typeface="+mj-lt"/>
              <a:buAutoNum type="arabicPeriod"/>
            </a:pPr>
            <a:r>
              <a:rPr lang="en-US" sz="1200" dirty="0" smtClean="0"/>
              <a:t>we perform</a:t>
            </a:r>
            <a:r>
              <a:rPr lang="pl-PL" sz="1200" dirty="0" err="1" smtClean="0"/>
              <a:t>ed</a:t>
            </a:r>
            <a:r>
              <a:rPr lang="pl-PL" sz="1200" dirty="0" smtClean="0"/>
              <a:t> </a:t>
            </a:r>
            <a:r>
              <a:rPr lang="pl-PL" sz="1200" dirty="0" err="1" smtClean="0"/>
              <a:t>additional</a:t>
            </a:r>
            <a:r>
              <a:rPr lang="en-US" sz="1200" dirty="0" smtClean="0"/>
              <a:t> feature engineering – standardization</a:t>
            </a:r>
          </a:p>
          <a:p>
            <a:pPr marL="48600" indent="-228600">
              <a:buFont typeface="+mj-lt"/>
              <a:buAutoNum type="arabicPeriod"/>
            </a:pPr>
            <a:r>
              <a:rPr lang="en-US" sz="1200" dirty="0" smtClean="0"/>
              <a:t>we f</a:t>
            </a:r>
            <a:r>
              <a:rPr lang="pl-PL" sz="1200" dirty="0" err="1" smtClean="0"/>
              <a:t>ound</a:t>
            </a:r>
            <a:r>
              <a:rPr lang="pl-PL" sz="1200" dirty="0" smtClean="0"/>
              <a:t> </a:t>
            </a:r>
            <a:r>
              <a:rPr lang="en-US" sz="1200" dirty="0" smtClean="0"/>
              <a:t>"good enough" parameters (in CV) to proceed feature selection procedure</a:t>
            </a:r>
            <a:endParaRPr lang="pl-PL" sz="1200" dirty="0" smtClean="0"/>
          </a:p>
          <a:p>
            <a:pPr marL="48600" indent="-228600">
              <a:buFont typeface="+mj-lt"/>
              <a:buAutoNum type="arabicPeriod"/>
            </a:pPr>
            <a:r>
              <a:rPr lang="pl-PL" sz="1200" dirty="0" smtClean="0"/>
              <a:t>we applied </a:t>
            </a:r>
            <a:r>
              <a:rPr lang="pl-PL" sz="1200" dirty="0" err="1" smtClean="0"/>
              <a:t>feature</a:t>
            </a:r>
            <a:r>
              <a:rPr lang="pl-PL" sz="1200" dirty="0" smtClean="0"/>
              <a:t> </a:t>
            </a:r>
            <a:r>
              <a:rPr lang="pl-PL" sz="1200" dirty="0" err="1" smtClean="0"/>
              <a:t>selection</a:t>
            </a:r>
            <a:r>
              <a:rPr lang="pl-PL" sz="1200" dirty="0" smtClean="0"/>
              <a:t> </a:t>
            </a:r>
            <a:r>
              <a:rPr lang="pl-PL" sz="1200" dirty="0" err="1" smtClean="0"/>
              <a:t>procedure</a:t>
            </a:r>
            <a:r>
              <a:rPr lang="pl-PL" sz="1200" dirty="0" smtClean="0"/>
              <a:t> </a:t>
            </a:r>
            <a:r>
              <a:rPr lang="pl-PL" sz="1200" dirty="0" err="1" smtClean="0"/>
              <a:t>based</a:t>
            </a:r>
            <a:r>
              <a:rPr lang="pl-PL" sz="1200" dirty="0" smtClean="0"/>
              <a:t> on </a:t>
            </a:r>
            <a:r>
              <a:rPr lang="pl-PL" sz="1200" dirty="0" err="1" smtClean="0"/>
              <a:t>previously</a:t>
            </a:r>
            <a:r>
              <a:rPr lang="pl-PL" sz="1200" dirty="0" smtClean="0"/>
              <a:t> </a:t>
            </a:r>
            <a:r>
              <a:rPr lang="pl-PL" sz="1200" dirty="0" err="1" smtClean="0"/>
              <a:t>mentioned</a:t>
            </a:r>
            <a:r>
              <a:rPr lang="pl-PL" sz="1200" dirty="0" smtClean="0"/>
              <a:t> </a:t>
            </a:r>
            <a:r>
              <a:rPr lang="pl-PL" sz="1200" dirty="0" err="1" smtClean="0"/>
              <a:t>techniques</a:t>
            </a:r>
            <a:r>
              <a:rPr lang="en-US" sz="1200" dirty="0" smtClean="0"/>
              <a:t> and after </a:t>
            </a:r>
            <a:r>
              <a:rPr lang="en-US" sz="1200" dirty="0" err="1" smtClean="0"/>
              <a:t>tha</a:t>
            </a:r>
            <a:r>
              <a:rPr lang="pl-PL" sz="1200" dirty="0" smtClean="0"/>
              <a:t>t</a:t>
            </a:r>
            <a:r>
              <a:rPr lang="en-US" sz="1200" dirty="0" smtClean="0"/>
              <a:t> </a:t>
            </a:r>
            <a:r>
              <a:rPr lang="en-US" sz="1200" dirty="0" smtClean="0"/>
              <a:t>we </a:t>
            </a:r>
            <a:r>
              <a:rPr lang="pl-PL" sz="1200" dirty="0" err="1" smtClean="0"/>
              <a:t>generated</a:t>
            </a:r>
            <a:r>
              <a:rPr lang="pl-PL" sz="1200" dirty="0" smtClean="0"/>
              <a:t> </a:t>
            </a:r>
            <a:r>
              <a:rPr lang="en-US" sz="1200" dirty="0" smtClean="0"/>
              <a:t>groups of feature candidates</a:t>
            </a:r>
          </a:p>
          <a:p>
            <a:pPr marL="48600" indent="-228600">
              <a:buFont typeface="+mj-lt"/>
              <a:buAutoNum type="arabicPeriod"/>
            </a:pPr>
            <a:r>
              <a:rPr lang="en-US" sz="1200" dirty="0" smtClean="0"/>
              <a:t>then </a:t>
            </a:r>
            <a:r>
              <a:rPr lang="pl-PL" sz="1200" dirty="0" err="1" smtClean="0"/>
              <a:t>tuned</a:t>
            </a:r>
            <a:r>
              <a:rPr lang="pl-PL" sz="1200" dirty="0" smtClean="0"/>
              <a:t> </a:t>
            </a:r>
            <a:r>
              <a:rPr lang="en-US" sz="1200" dirty="0" err="1" smtClean="0"/>
              <a:t>hyperparameters</a:t>
            </a:r>
            <a:r>
              <a:rPr lang="en-US" sz="1200" dirty="0" smtClean="0"/>
              <a:t> for each group of variables (in CV) - we obtain</a:t>
            </a:r>
            <a:r>
              <a:rPr lang="pl-PL" sz="1200" dirty="0" err="1" smtClean="0"/>
              <a:t>ed</a:t>
            </a:r>
            <a:r>
              <a:rPr lang="pl-PL" sz="1200" dirty="0" smtClean="0"/>
              <a:t> </a:t>
            </a:r>
            <a:r>
              <a:rPr lang="en-US" sz="1200" dirty="0" smtClean="0"/>
              <a:t>couple of models</a:t>
            </a:r>
          </a:p>
          <a:p>
            <a:pPr marL="48600" indent="-228600">
              <a:buFont typeface="+mj-lt"/>
              <a:buAutoNum type="arabicPeriod"/>
            </a:pPr>
            <a:r>
              <a:rPr lang="en-US" sz="1200" dirty="0" smtClean="0"/>
              <a:t>then we compare</a:t>
            </a:r>
            <a:r>
              <a:rPr lang="pl-PL" sz="1200" dirty="0" smtClean="0"/>
              <a:t>d </a:t>
            </a:r>
            <a:r>
              <a:rPr lang="en-US" sz="1200" dirty="0" smtClean="0"/>
              <a:t>all models based on so called "proper CV"</a:t>
            </a:r>
            <a:endParaRPr lang="pl-PL" sz="1200" dirty="0" smtClean="0"/>
          </a:p>
          <a:p>
            <a:pPr indent="-180000"/>
            <a:endParaRPr lang="pl-PL" sz="1200" dirty="0" smtClean="0"/>
          </a:p>
          <a:p>
            <a:pPr indent="-180000"/>
            <a:r>
              <a:rPr lang="pl-PL" sz="1200" b="1" dirty="0" err="1" smtClean="0"/>
              <a:t>Disclaimer</a:t>
            </a:r>
            <a:endParaRPr lang="pl-PL" sz="1200" b="1" dirty="0" smtClean="0"/>
          </a:p>
          <a:p>
            <a:pPr indent="-180000"/>
            <a:r>
              <a:rPr lang="en-US" sz="1200" dirty="0" smtClean="0"/>
              <a:t>We are aware of potential data leakage in case of usage </a:t>
            </a:r>
            <a:r>
              <a:rPr lang="en-US" sz="1200" dirty="0" err="1" smtClean="0"/>
              <a:t>KFold</a:t>
            </a:r>
            <a:r>
              <a:rPr lang="en-US" sz="1200" dirty="0" smtClean="0"/>
              <a:t> CV without time-series problem handling (in point 2</a:t>
            </a:r>
            <a:r>
              <a:rPr lang="pl-PL" sz="1200" dirty="0" smtClean="0"/>
              <a:t>, </a:t>
            </a:r>
            <a:r>
              <a:rPr lang="en-US" sz="1200" dirty="0" smtClean="0"/>
              <a:t>3</a:t>
            </a:r>
            <a:r>
              <a:rPr lang="pl-PL" sz="1200" dirty="0" smtClean="0"/>
              <a:t> and 4</a:t>
            </a:r>
            <a:r>
              <a:rPr lang="en-US" sz="1200" dirty="0" smtClean="0"/>
              <a:t>). To be honest in this problem it is not a big deal - based on our experience and we treat it like a feature!</a:t>
            </a:r>
          </a:p>
          <a:p>
            <a:pPr indent="-180000"/>
            <a:r>
              <a:rPr lang="en-US" sz="1200" dirty="0" smtClean="0"/>
              <a:t>During the last step of our procedure we </a:t>
            </a:r>
            <a:r>
              <a:rPr lang="en-US" sz="1200" dirty="0" err="1" smtClean="0"/>
              <a:t>verif</a:t>
            </a:r>
            <a:r>
              <a:rPr lang="pl-PL" sz="1200" dirty="0" err="1" smtClean="0"/>
              <a:t>ied</a:t>
            </a:r>
            <a:r>
              <a:rPr lang="en-US" sz="1200" dirty="0" smtClean="0"/>
              <a:t> previous analysis based on "proper CV" which handle time-series properties!!! So during </a:t>
            </a:r>
            <a:r>
              <a:rPr lang="en-US" sz="1200" dirty="0" err="1" smtClean="0"/>
              <a:t>hyperparameters</a:t>
            </a:r>
            <a:r>
              <a:rPr lang="en-US" sz="1200" dirty="0" smtClean="0"/>
              <a:t> tuning we will use different CV (we fight against data leakage).</a:t>
            </a:r>
            <a:endParaRPr lang="pl-PL" sz="1200" dirty="0" smtClean="0"/>
          </a:p>
        </p:txBody>
      </p:sp>
    </p:spTree>
    <p:extLst>
      <p:ext uri="{BB962C8B-B14F-4D97-AF65-F5344CB8AC3E}">
        <p14:creationId xmlns:p14="http://schemas.microsoft.com/office/powerpoint/2010/main" val="4235668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8ED3F5D5-D987-4CD0-A25C-52F18EDA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58" y="71420"/>
            <a:ext cx="8229600" cy="85725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</a:pPr>
            <a:r>
              <a:rPr lang="pl-PL" sz="2800" b="1" dirty="0" err="1" smtClean="0">
                <a:cs typeface="Segoe UI Light"/>
              </a:rPr>
              <a:t>Final</a:t>
            </a:r>
            <a:r>
              <a:rPr lang="pl-PL" sz="2800" b="1" dirty="0" smtClean="0">
                <a:cs typeface="Segoe UI Light"/>
              </a:rPr>
              <a:t> </a:t>
            </a:r>
            <a:r>
              <a:rPr lang="pl-PL" sz="2800" b="1" dirty="0" err="1" smtClean="0">
                <a:cs typeface="Segoe UI Light"/>
              </a:rPr>
              <a:t>results</a:t>
            </a:r>
            <a:r>
              <a:rPr lang="pl-PL" sz="2800" b="1" dirty="0" smtClean="0">
                <a:cs typeface="Segoe UI Light"/>
              </a:rPr>
              <a:t> and </a:t>
            </a:r>
            <a:r>
              <a:rPr lang="pl-PL" sz="2800" b="1" dirty="0" err="1" smtClean="0">
                <a:cs typeface="Segoe UI Light"/>
              </a:rPr>
              <a:t>conclusions</a:t>
            </a:r>
            <a:endParaRPr lang="pl-PL" sz="2800" b="1" dirty="0" smtClean="0">
              <a:cs typeface="Segoe UI Light"/>
            </a:endParaRPr>
          </a:p>
        </p:txBody>
      </p:sp>
      <p:sp>
        <p:nvSpPr>
          <p:cNvPr id="18434" name="AutoShape 2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36" name="AutoShape 4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39" name="AutoShape 7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41" name="AutoShape 9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29698" name="AutoShape 2" descr="data:image/png;base64,iVBORw0KGgoAAAANSUhEUgAAA3AAAAHACAYAAADjv4qLAAAABHNCSVQICAgIfAhkiAAAAAlwSFlzAAALEgAACxIB0t1+/AAAADh0RVh0U29mdHdhcmUAbWF0cGxvdGxpYiB2ZXJzaW9uMy4xLjMsIGh0dHA6Ly9tYXRwbG90bGliLm9yZy+AADFEAAAgAElEQVR4nOzde1hVdb7H8c+GDSKgCRsBUfKCd8wUOcUhr0hWhyYvmY63MS3Hc1SKtJtk5mQWp0xNbMYyY2q8DJalNeOxQqMUUtHEydQRRvOkkgSckxdEgb3OHx73uAXaG8Vg6fv1PPt5WGv91lq/39pfePy4fntti2EYhgAAAAAADZ5HfXcAAAAAAOAeAhwAAAAAmAQBDgAAAABMggAHAAAAACZBgAMAAAAAkyDAAQAAAIBJEOAAmN6sWbPUuXNn0xzXDMaOHau77767vrvhtqeeekrBwcGyWCxasWKF2/u99dZb8vHxuYY9++W0atVKKSkpbrevqKiQxWLRn//852vYKwBAXSPAAWjwHnzwQVksliqvi//wfPrpp7V169Z67uX15fXXX9fq1avruxtuycrK0ssvv6y3335bBQUFGj58eLXtahvuUD9mzZpV7e/7pa8VK1YoIyOjxu3r1q1zHG/dunW64447FBAQID8/P7Vv315jx47V6dOn3T7XtZCZmSmLxaKjR49ek+MDuH5Z67sDAOCOPn36aM2aNU7rmjVrJkny9/eXv79/fXTrulNeXi4vLy/ddNNN9d0Vt+Xl5cnb21v33ntvfXcFdeDpp5/WtGnTHMvDhg1T27Zt9eqrrzrWNWvWzPGfNn/729/UvHlzp2MEBARIkj799FMNHz5czz33nJYtW6ZGjRopLy9P69at0/nz590+FwA0JNyBA2AK3t7eCg0NdXpdnPp2+VTHi8sffPCBOnXqJH9/f8XFxenw4cOONiUlJRozZozCw8PVuHFjde7cWYsWLZJhGLXqV3l5uZ577jm1a9dO3t7eatWqlR577DHH9mPHjmnEiBFq1qyZGjdurAEDBmj37t2O7RfvImzcuFG33367GjdurOjoaO3fv1/ffPON7rjjDvn5+en222/XgQMHHPtdnPr3ySefqGvXrvLx8VFMTIxyc3NrNcaLUyUXLVqk1q1bq1GjRiorK6syhfKbb77RnXfeqWbNmsnPz09dunTRqlWraj3OTZs2qXfv3mrcuLG6deumjIwMl9c4LS1NnTt3lre3t8LDwzV79mxVVlY6+j9hwgSdP39eFotFVmv1/y/ZqlUrSdK4ceOqbbdlyxb16NFDvr6+uu2225z6LkkHDx7U0KFD1axZMwUEBOiuu+7St99++7P97t27tyZPnqzk5GQ1b95czZo10+zZs2W32/Xcc88pJCREwcHBmj17ttN+P/30kyZNmqTmzZvLx8dHt912mzZt2uTUZvfu3YqJiZGPj486deqktWvXVjn/qVOnlJiYqLCwMPn6+qpXr15av379z/b5jTfeUOfOneXj4yObzab+/fvr+PHjNbY/f/68nnzySYWFhcnb21vdunVTenq6Y/vFaZpLly7VmDFj5O/vr/DwcKeAdDl/f3+n33Nvb281bty42t99SWrevHmVvw2NGjWSJH300UeKjo7Ws88+q65duyoiIkJ33323li5dqsDAwFqf61JffvmlYmNj1aRJEzVt2lQ9evRwqucffvhBv/nNb9S8eXM1adJEvXv3doTO/Px8DRgwQJIUHh4ui8Wi+Pj4n31vAOAiAhyA69LRo0e1bNkyrV69Wlu2bFFxcbEefvhhx/azZ8/q1ltv1fr167Vv3z4988wzSk5OrvV0qQcffFBLly7V3LlztX//fr333ntq3bq1JMkwDA0ePFj5+fnasGGDtm/fLpvNpvj4eJWUlDgd55lnnlFKSop27twpDw8PjRo1SlOnTtXcuXOVk5MjDw8PPfTQQ077lJeXKzk5WUuXLtX27dsVEBCghIQEnT17tlZjzM7O1tatW/XRRx9pz5498vb2rjLOkSNHKjQ0VF999ZW++eYbvfrqq447E7UZ5+OPP67Zs2drz549uvXWWzVixAidPHmyxuu7fv16Pfzww5o4caL27t2rl19+WYsXL9YLL7wg6cJUz1dffVWNGjVSQUGBjh07Vu1xLgayJUuWVGlXXl6uWbNm6fXXX9euXbvUtGlTjRw50hESCwoK1Lt3b7Vs2VJbtmzRV199pXbt2ql///4qLi6use+SHNN8s7Ky9Morr2ju3Lm69957df78eW3ZskUpKSmaO3euPvvsM8c+Dz74oDZt2qSVK1dq9+7duu222/Rv//ZvysvLkySdOXNG99xzj5o3b64dO3bo7bff1ksvveTUF8MwlJCQoG+//Vbvvfee9u7dq0mTJumBBx7QF198UW1ft2/frmnTpunZZ5/V3//+d2VmZmr06NE/O76nnnpKb7/9thYvXqy9e/dq5MiRGjVqlDIzM53a/e53v1NcXJxyc3P12GOP6fHHH9eWLVt+9th1oUWLFjp48KB27dpVp8ctLy/Xr371K91xxx3avXu3du3apdmzZ6tx48aSpNLSUvXr109lZWXauHGjdu/erUGDBik+Pl4HDx5U27ZtHaH766+/VkFBgd5777067SOA65gBAA3c+PHjDU9PT8PPz8/xateunWP7M888Y3Tq1Mlp2Wq1GkVFRY51f/rTnwwPDw/j/PnzNZ5nypQpxt13313jcS934MABQ5Lx4YcfVrt948aNhiTjwIEDjnWlpaVGcHCwMW/ePMMwDOOzzz4zJBkff/yxo82qVasMSca6desc69asWWNIMs6ePWsYhmEsW7bMkGRkZmY62hQVFRmNGzc20tLS3B7jmDFjjICAAOPMmTNO7caMGWPcddddjmVfX1/jT3/601WPc/369Y4233//vSHJyMjIqLG/MTExxqhRo5zWzZ8/3/D19TXKy8sNw7hwLRo1alTjMS6SVGUMF6/jnj17HOu2bNliSDLy8/MNw7hQB3fccYfTfna73WjdurWRmppa4/nuuOMOo1evXk7rOnbsaPTo0cNpXdeuXY2nnnrKMIx/1tQnn3zidK7u3bsbkyZNMgzDMP7whz8YTZo0Mf73f//X0Wb37t2GJOOll14yDOPC9fbx8TFOnjzpdK5x48YZ999/v2EYhlFeXm5IMlavXm0YxoUaa9asWZV9anLy5EnDy8vLeOONN5zW33vvvcadd97pdI7HHnvMqU1ERIQxa9Yst87Tr18/46GHHqqy/mJN+fr6Ov1t8PPzM06cOGEYhmGcOnXKSEhIMCQZLVq0MIYMGWIsXrzYKC4urtW5LldYWGhIMrZs2VLt9mXLlhk333yzUVFR4bS+T58+xowZMwzDMIzPP//ckGR8//33Ls8HAJfiM3AATOH222/XO++841iuaarcReHh4bLZbI7lli1bym6368cff1RYWJgqKyv1n//5n0pPT9exY8dUVlam8+fPq3379m736eL/6g8aNKja7d9++61CQkLUqVMnx7rGjRvrX/7lX6pMv7v11lsdP4eGhkqSunfvXmVdYWGhbr75ZkkXHsoRExPjaGOz2dSpUyft27dPktweY2RkpHx9fX92rE888YQmTJig5cuXq3///ho8eLB69OhR63Fe3Ee68J5I0okTJ2o87759+zR+/Hindf369VNpaakOHz6sDh06/Gy/3WG1WtWtW7dq+xUREaGcnBxt3769yucsz54967grVpNL31fpwvvYpk2bKusKCwslyXG9+vTp49husVjUp08fx13Effv2KTIy0ulzij169HDqX05Ojs6dO6cWLVo4nev8+fPq0qVLtX296667dPPNN6tt27a68847FRcXp2HDhjn9Hl0qLy9P5eXl6tu3r9P6fv36aeHChU7rLn3fpQvX+Ofe99rYtGmTgoKCnNZd7LO/v7/+8pe/6PDhw8rMzNSOHTv0wgsvaO7cudq6das6dux4Reds3ry5HnzwQcXHxysuLk79+vXTsGHDHPWYk5OjY8eOVfks6blz5xyfzwOAK0WAA2AKjRs3rlW4unwaoMVikSTZ7XZJ0ssvv6yXX35ZCxcuVI8ePdSkSRO98sorVT5rdLUunvdShmFUWe/l5VVln+rWXex/TYxLPt/m7hj9/PxcjmPOnDkaN26cNm7cqM2bN2vevHlKTk7WnDlzajXOS98Xd8d0+TEujrG6c14JT09PeXj88xMFl/fLbrfrrrvu0qJFi6rs6+phL5e+hxePXd26S6+Bq2tZ3XW9nN1ul81m01dffVVlW3VTZCWpadOm2rVrl7Zu3apNmzbp9ddf15NPPqnPP/+8SgC7vP819bWmc14+5qvRpk0bx39w1KRt27Zq27atJkyYoBdeeEEdO3bUK6+8omXLll3xedPS0jR9+nR9+umn+uyzzzRr1iwtXbpUDz30kOx2u7p166b333+/yn7u/L4BwM/hM3AAbkhffvmlEhISNGHCBPXs2VPt27d3eTflclFRUZIuPOmuOpGRkfrhhx/097//3bHu7Nmz2rlzpyIjI6+88//PMAxt377dsVxSUqKDBw867rDUxRgvFRERoalTp2rt2rWaPXu2/vCHP0i6tuPs2rVrlc9sffnll/L19a1yJ8sVLy8vx+faaiM6Olp79+5VeHi42rdv7/S6/OmHVysyMlKGYTh9PswwDG3dutVxLSMjI7V3716nzw7u2bNHp0+fdupzUVGRKioqqvT54h3c6litVvXv319z587V7t271bx58xq/TqJDhw7y8vKq9v2pi/q+Vmw2m4KDgx13Pa/GLbfcohkzZmjjxo0aP3683nzzTUkXrv8//vEPNWvWrMr1v3hX9GKovZKaBHBjI8ABuCF16tRJmzdv1hdffKGDBw9q5syZtX7QQefOnTVy5EhNnjxZq1at0qFDh5STk6PFixdLujC1slevXho1apSys7P1zTffaNy4caqoqNDkyZOvegweHh6aMWOGtm7d6jh2s2bN9Otf/7rOxihdeCpiYmKiPv/8c3333Xf6+uuvHU+/vNbjnDlzptLT0/Xyyy8rLy9Pf/7znzV37lw9+eSTLqfRXq5t27bavHmzjh8/7vLhI5d65JFHVFZWpiFDhmjr1q367rvvtHXrViUnJzsF6LrQqVMnDR06VP/+7/+uzz77TPv371diYqIOHDigxx9/XNKFJ282btxY48aN0zfffKPs7GxNmjTJ6WmJgwYNckx1XbdunQ4fPqxdu3Zp8eLFevvtt6s99wcffKDXXntNX3/9tf77v/9bH3zwgY4dO+Z4ny/XpEkTTZs2TcnJyVq7dq0OHjyoF154QX/961+VnJxcp9fl5/z444/64YcfnF6lpaWSpGeffVZPPPGEPv/8cx0+fFh/+9vfNH36dB04cEBDhw694nP+/e9/18yZM5WVlaUjR44oOztbWVlZjms1btw4hYeHKyEhQZ999pm+++47bd++XS+++KI+/vhjSVLr1q1lsVj017/+VYWFhT/7MB8AuBQBDsAN6bnnnlNsbKx+9atfKTY2VmfOnNHUqVNrfZx3331XDz/8sGbOnKnOnTtr6NChOnLkiKQL08TWr1+v9u3b65577tFtt92m4uJiffbZZwoMDLzqMXh5een555/Xww8/rOjoaP3444/6y1/+4ngSXl2N0cvLS0VFRZowYYI6deqke+65R61atXI8zfJajvO+++7TsmXL9PbbbysyMlKPP/64HnnkEc2aNavWx1qwYIG2b9+uNm3aKCQkxO39WrRooW3btikgIEBDhw5Vp06dNHbsWH3//fcup+5dibS0NA0cOFCjRo1Sjx49tGPHDm3YsMHx+Sp/f39t2LBBP/zwg6Kjo/Wb3/xGTzzxhNNn1S4Gg8GDByspKUmdOnVSQkKC/uu//kvt2rWr9ryBgYFat26dBg0apI4dO2rmzJl67rnnqnwG8VIpKSmaOHGiEhMT1a1bN61evVqrVq1Sv3796vai/Izu3burRYsWTq+Ld8L69++vI0eOaMKECerSpYsGDhyoHTt2aNWqVXrwwQev+Jz+/v46cOCARowYoY4dO+qBBx5Q37599dprr0mSfH199eWXX6pHjx4aP368OnbsqPvvv1+7du1y3AFt2bKl5s2bp3nz5qlFixYaNmzYVV8LADcGi2HU8kuPAAD17q233tK0adNUVlZW310BAAC/IO7AAQAAAIBJEOAAAAAAwCSYQgkAAAAAJsEdOAAAAAAwCQIcAAAAAJhE7b5E5xdy/Pjx+u5CgxMUFKSioqL67gZMgnqBu6gV1Ab1AndRK6gN6qWqsLCwGrdxBw4AAAAATIIABwAAAAAmQYADAAAAAJMgwAEAAACASRDgAAAAAMAkGuRTKAEAAAA0TIZhqKysTHa7XRaL5aqPd+LECZ07d64OemYOhmFIkry9veXl5VXr/QlwAAAAANxWVlYmLy8vWa11EyWsVqs8PT3r5FhmYRiGzp07p8rKSvn4+NRqX6ZQAgAAAHCb3W6vs/B2o7JYLPLx8VFlZWWt9yXAAQAAAHBbXUybxAVXci0JcAAAAABgEgQ4AAAAADAJJq8CAAAAuCqVk+678n1r0dZz2UdXfJ7rBXfgAAAAAFx3hg8frrZt26pDhw7q3Lmz7rzzTn388cdO21u2bKmPPnIOhV9//bVatmyp22+/3bGuuLhYM2bMUK9evdShQwf17NlTY8eO1YkTJyRJ2dnZatmypTp06OD0mjJlSp2PiztwAAAAAK5Ljz76qJKSklRRUaG0tDRNmzZN3bp1U9u2bSVJHTp00KpVq3Tfff+8g7hq1Sp16NBBZ8+edaxLTExUkyZN9MknnygoKEhFRUX6/PPPnR5C4unpqby8vGs+Ju7AAQAAALiuWa1WjRkzRhUVFfr2228d6++55x7t3btXR44ckSSdPn1aGzZs0MiRI53237lzp0aMGKGgoCBJUlBQkB544AEFBwf/coP4fwQ4AAAAANe18+fP691335UktWvXzrG+UaNGGjZsmFavXi1JWrdunWJiYqoEs9tvv10vvPCCVqxYob17917R97fVFaZQ/oyr+TBmnfswu757AAAAAJhKamqq3njjDZ0+fVpeXl6aP3++unbt6tRm9OjRGj16tB5//HGtXLlSM2bM0E8//eTUZunSpXr77beVnp6u5557Tt7e3nrggQeUnJwsHx8fSVJlZaW6dOnitN/UqVM1bdq0Oh0Td+AAAAAAXJcSExO1f/9+ffPNN4qLi1NWVlaVNp07d1bLli21aNEi/fjjjxowYECVNn5+fkpMTNTHH3+s/fv367XXXtOaNWuUmprqaOPp6an9+/c7veo6vEkEOAAAAADXuWbNmumVV17R5s2b9cknn1TZPnbsWC1atEijRo2Sp6fnzx7L29tbgwYNUp8+fZw+T/dLIcABAAAAuO4FBARo0qRJSklJkd1ud9o2ePBgrVq1Sg899FC1+86ZM0e5ubkqKyuT3W5Xdna2srOznb5q4JfCZ+AAAAAAXJWr+YJtq9WqioqKOuxNzR5++GG99dZbeu+995zW+/j4qG/fvjXuZ7fbNX36dB07dkwWi0WhoaGaPHmyJk+e7GhTWVmpDh06OO3XpUuXKt8zd7UshmEYdXrEOnD8+PH67oKkhvUQk5APs1VUVFTf3YBJXPx+EsAVagW1Qb3AXdTK9a20tFS+vr51drxfMsA1NDVdy7CwsBr3YQolAAAAAJgEAQ4AAAAATIIABwAAAAAmQYADAAAAAJMgwAEAAACASRDgAAAAAMAkCHAAAAAAYBIEOAAAAAAwCas7jXJzc5WWlia73a6BAwdqyJAhTtv37dund955R0eOHFFSUpJiYmIc24qKirR06VIVFxdLkmbOnKng4OA6HAIAAACA+jR45YFf5Dzrx3T+Rc7TkLm8A2e327V8+XIlJydr4cKFysrK0tGjR53aBAUFacqUKerdu3eV/ZcsWaL77rtPCxcu1EsvvaSbbrqp7noPAAAAANUYPny4WrZsqY8++shp/ddff62WLVvq9ttvd1q/du1atWzZUgsXLqz2WG3btlWHDh2cXvv377+mY6iOywCXn5+v0NBQhYSEyGq1KjY2Vjk5OU5tgoOD1bp1a1ksFqf1R48eVWVlpbp37y5J8vHxUaNGjeqw+wAAAABQvQ4dOmjVqlVO61atWqUOHTpUabty5Uo1a9ZMq1atUmVlZZXtjz76qPLy8pxeXbp0uWZ9r4nLKZQlJSWy2WyOZZvNpry8PLcOfvz4cfn5+Wn+/PkqLCzULbfcojFjxsjDwzk3ZmRkKCMjQ5KUkpKioKCg2ozhmjlR3x24hNVqbTDXBQ0f9QJ3USuoDeoF7qJWrm8nTpyQ1erWJ7HqXG3Oa7FYlJCQoHfffVdHjx5VmzZtdPr0aW3YsEGPPvqo0tLSHMc7ePCgtm/frj/96U+aMGGCvvjiCw0aNMjpWB4eHnU+7kaNGtX6d8VlDwzDqLLu8jttNbHb7dq/f79efvllBQUFaeHChcrMzFRcXJxTu/j4eMXHxzuWi4qK3Dr+jaSiooLrArcFBQVRL3ALtYLaoF7gLmrl+nbu3Dl5enrWy7krKircbmsYhry8vDR06FCtWLFCTz/9tN5//33FxMQoKChIhmE4jvfHP/5RXbp0UVxcnOLi4vTuu+86ZRbDMGS322t1fnecO3eu2t+VsLCwGvdxOYXSZrM5HkAiScXFxQoICHCrQ4GBgWrbtq1CQkLk6emp2267TYcOHXJrXwAAAAC4WqNHj9aaNWtUUVGhlStXavTo0U7by8rKtHbtWo0cOVKSNGrUKG3evFnHjx93apeamqouXbo4veqDywAXERGhgoICFRYWqqKiQtnZ2YqOjnbr4O3bt9eZM2d08uRJSdLevXvVqlWrq+sxAAAAALipc+fOatmypRYtWqQff/xRAwYMcNr+l7/8RaWlpbr//vslSXFxcQoKCtLq1aud2iUmJmr//v1Or/rgcgqlp6enJk6cqHnz5slut2vAgAEKDw9Xenq6IiIiFB0drfz8fM2fP19nzpzRrl27tGbNGi1YsEAeHh4aN26cnn/+eRmGoXbt2jlNlQQAAACAa23s2LGaMWOGHnvssSrTP1esWKHKykqnKZMnT57U6tWrlZSUVG/TRWvi1qfwoqKiFBUV5bTu4i1G6cKdtqVLl1a7b/fu3TV//vyr6CIAAAAAXLnBgwerRYsWjqfjX3Tw4EHl5OQoLS1NPXr0cKwvKirSPffco02bNjk9zKQhqJ/HxwAAAAC4blzNF2xbrdY6fzjI5Xx8fNS3b98q61esWKFbbrmlSkgLDg7WvffeqxUrVji2vfbaa3r99ded2v3+97/XnXfeee06Xg2LUd1jJuvZ5R8YrC+Vk+6r7y44hHyYzdOc4Dae/gV3USuoDeoF7qJWrm+lpaXy9fWts+P9EgGuoarpWl7VUygBAAAAAA0DAQ4AAAAATIIABwAAAAAmQYADAAAAAJMgwAEAAABwWwN8BqJpXcm1JMABAAAAqBVC3NW70mtIgAMAAADgNm9vb507d66+u2FqhmHozJkz8vHxqfW+fJE3AAAAALd5eXmpsrJSZ86ckcViuerjNWrU6IYKhBfvvDVu3Fienp613p8ABwAAAKBWruTOUU344vfaYQolAAAAAJgEAQ4AAAAATIIABwAAAAAmQYADAAAAAJMgwAEAAACASRDgAAAAAMAkCHAAAAAAYBIEOAAAAAAwCQIcAAAAAJgEAQ4AAAAATIIABwAAAAAmQYADAAAAAJMgwAEAAACASRDgAAAAAMAkCHAAAAAAYBIEOAAAAAAwCQIcAAAAAJgEAQ4AAAAATIIABwAAAAAmQYADAAAAAJMgwAEAAACASRDgAAAAAMAkCHAAAAAAYBJuBbjc3Fw9+uijSkxM1Lp166ps37dvn5566in9+te/1rZt26psLy0t1eTJk7V8+fKr7zEAAAAA3KBcBji73a7ly5crOTlZCxcuVFZWlo4ePerUJigoSFOmTFHv3r2rPUZ6erq6du1aNz0GAAAAgBuUywCXn5+v0NBQhYSEyGq1KjY2Vjk5OU5tgoOD1bp1a1kslir7Hzp0SD/99JNuvfXWuus1AAAAANyAXAa4kpIS2Ww2x7LNZlNJSYlbB7fb7Xr33Xc1duzYK+8hAAAAAECSZHXVwDCMKuuqu9NWnU8//VQ9e/ZUUFDQz7bLyMhQRkaGJCklJcVl+1/KifruwCWsVmuDuS5o+KgXuItaQW1QL3AXtYLaoF5qx2WAs9lsKi4udiwXFxcrICDArYMfPHhQ+/fv16effqqysjJVVFTIx8dHY8aMcWoXHx+v+Ph4x3JRUZG7/b9hVFRUcF3gtqCgIOoFbqFWUBvUC9xFraA2qJeqwsLCatzmMsBFRESooKBAhYWFCgwMVHZ2th555BG3Tnxpu8zMTP3jH/+oEt4AAAAAAO5xGeA8PT01ceJEzZs3T3a7XQMGDFB4eLjS09MVERGh6Oho5efna/78+Tpz5ox27dqlNWvWaMGCBb9E/wEAAADghmExqvuQWz07fvx4fXdBklQ56b767oJDyIfZ3FqG25iKAHdRK6gN6gXuolZQG9RLVT83hdKtL/IGAAAAANQ/AhwAAAAAmAQBDgAAAABMggAHAAAAACZBgAMAAAAAkyDAAQAAAIBJEOAAAAAAwCQIcAAAAABgEgQ4AAAAADAJAhwAAAAAmAQBDgAAAABMggAHAAAAACZBgAMAAAAAkyDAAQAAAIBJEOAAAAAAwCQIcAAAAABgEgQ4AAAAADAJAhwAAAAAmAQBDgAAAABMggAHAAAAACZBgAMAAAAAkyDAAQAAAIBJEOAAAAAAwCQIcAAAAABgEgQ4AAAAADAJAhwAAAAAmAQBDgAAAABMwlrfHQCAG03lpPvquwv/9GF2ffcAAADUAnfgAAAAAMAkCHAAAAAAYBIEOAAAAAAwCQIcAAAAAJgEAQ4AAAAATIIABwAAAAAmQYADAAAAAJNw63vgcnNzlZaWJrvdroEDB2rIkCFO2/ft26d33nlHR44cUVJSkmJiYiRJ3333nZYtW6azZ8/Kw8NDw4YNU2xsbN2PAgAAAABuACKWiMAAACAASURBVC4DnN1u1/LlyzVr1izZbDbNnDlT0dHRatWqlaNNUFCQpkyZoo8//thpX29vb02bNk0tWrRQSUmJnn76ad16663y8/Or+5EAAAAAwHXOZYDLz89XaGioQkJCJEmxsbHKyclxCnDBwcGSJIvF4rRvWFiY4+fAwEDddNNNOnnyJAEOAAAAAK6AywBXUlIim83mWLbZbMrLy6v1ifLz81VRUeEIgpfKyMhQRkaGJCklJUVBQUG1Pv61cKK+O3AJq9XaYK4LGj7qpWHjbwvMinqBu6gV1Ab1UjsuA5xhGFXWXX6nzZX/+Z//UWpqqqZOnSoPj6rPTYmPj1d8fLxjuaioqFbHvxFUVFRwXeC2oKAg6gVu4W8LaoO/LXAXtYLaoF6qunQm4+VcPoXSZrOpuLjYsVxcXKyAgAC3T15aWqqUlBT9+te/VseOHd3eDwAAAADgzGWAi4iIUEFBgQoLC1VRUaHs7GxFR0e7dfCKigrNnz9fffv21b/+679edWcBAAAA4Ebmcgqlp6enJk6cqHnz5slut2vAgAEKDw9Xenq6IiIiFB0drfz8fM2fP19nzpzRrl27tGbNGi1YsEDZ2dnav3+/Tp06pczMTEnS1KlT1aZNm2s8LAAAAAC4/rj1PXBRUVGKiopyWjdy5EjHz+3bt9fSpUur7Ne3b1/17dv3KrsIAAAAAJDcmEIJAAAAAGgYCHAAAAAAYBIEOAAAAAAwCQIcAAAAAJgEAQ4AAAAATIIABwAAAAAmQYADAAAAAJMgwAEAAACASbj1Rd4AXKucdF99d+GfPsyu7x4AAADgGuAOHAAAAACYBAEOAAAAAEyCAAcAAAAAJkGAAwAAAACTIMABAAAAgEkQ4AAAAADAJAhwAAAAAGASBDgAAAAAMAkCHAAAAACYBAEOAAAAAEyCAAcAAAAAJkGAAwAAAACTIMABAAAAgEkQ4AAAAADAJAhwAAAAAGASBDgAAAAAMAkCHAAAAACYBAEOAAAAAEyCAAcAAAAAJkGAAwAAAACTIMABAAAAgEkQ4AAAAADAJAhwAAAAAGASBDgAAAAAMAkCHAAAAACYhNWdRrm5uUpLS5PdbtfAgQM1ZMgQp+379u3TO++8oyNHjigpKUkxMTGObZmZmfrggw8kScOGDVP//v3rrvcAAAAAcANxeQfObrdr+fLlSk5O1sKFC5WVlaWjR486tQkKCtKUKVPUu3dvp/WnT5/W+++/rxdffFEvvvii3n//fZ0+fbpuRwAAAAAANwiXAS4/P1+hoaEKCQmR1WpVbGyscnJynNoEBwerdevWslgsTutzc3PVvXt3+fv7y9/fX927d1dubm7djgAAAAAAbhAup1CWlJTIZrM5lm02m/Ly8tw6+OX7BgYGqqSkpEq7jIwMZWRkSJJSUlIUFBTk1vGvtRP13YFLWK3WBnNdUD3qBe6iVmBW1AvcRa2gNqiX2nEZ4AzDqLLu8jtttVHdvvHx8YqPj3csFxUVXfHxr1cVFRVcF7iNeoG7qBXURlBQEPUCt1ArqA3qpaqwsLAat7mcQmmz2VRcXOxYLi4uVkBAgFsnDgwMdNq3pKTE7X0BAAAAAM5cBriIiAgVFBSosLBQFRUVys7OVnR0tFsH79Gjh/bs2aPTp0/r9OnT2rNnj3r06HHVnQYAAACAG5HLKZSenp6aOHGi5s2bJ7vdrgEDBig8PFzp6emKiIhQdHS08vPzNX/+fJ05c0a7du3SmjVrtGDBAvn7++v+++/XzJkzJUnDhw+Xv7//NR8UAAAAAFyP3PoeuKioKEVFRTmtGzlypOPn9u3ba+nSpdXuGxcXp7i4uKvoIgAAAABAcmMKJQAAAACgYSDAAQAAAIBJEOAAAAAAwCQIcAAAAABgEgQ4AAAAADAJAhwAAAAAmAQBDgAAAABMggAHAAAAACZBgAMAAAAAkyDAAQAAAIBJEOAAAAAAwCQIcAAAAABgEgQ4AAAAADAJa313AO6547Wt9d0Fh/VjOtd3FwAAAIAbEnfgAAAAAMAkCHAAAAAAYBIEOAAAAAAwCQIcAAAAAJgEAQ4AAAAATIIABwAAAAAmQYADAAAAAJMgwAEAAACASfBF3sB1iC9+BwAAuD5xBw4AAAAATIIABwAAAAAmQYADAAAAAJMgwAEAAACASRDgAAAAAMAkCHAAAAAAYBIEOAAAAAAwCQIcAAAAAJgEAQ4AAAAATIIABwAAAAAmYa3vDgAAgJpVTrqvvrvwTx9m13cPAOCG51aAy83NVVpamux2uwYOHKghQ4Y4bS8vL9eSJUt06NAhNWnSRElJSQoODlZFRYWWLl2qw4cPy263q2/fvho6dOg1GQgAAAAA9/CfQ+blcgql3W7X8uXLlZycrIULFyorK0tHjx51arN582b5+fkpNTVVCQkJWrlypSRp27Ztqqio0KuvvqqUlBRlZGSosLDw2owEAAAAAK5zLgNcfn6+QkNDFRISIqvVqtjYWOXk5Di12blzp/r37y9JiomJ0d69e2UYhiSprKxMlZWVOn/+vKxWq3x9fet+FAAAAABwA3A5hbKkpEQ2m82xbLPZlJeXV2MbT09P+fr66tSpU4qJidHOnTv129/+VufPn9f48ePl7+9f5RwZGRnKyMiQJKWkpCgoKOiqBlVXTtR3BxqohvL+NDTUS/Wol6oaUq3c8drW+u6CQ9ajveu7Cw1SQ6oXq9XK7zTcQq00fPxtMS+XAe7inbRLWSwWt9rk5+fLw8NDb7zxhs6cOaPZs2frlltuUUhIiFPb+Ph4xcfHO5aLiorcHgB+ebw/qA3qBe6iVhq+iooK3ie4JSgoiFqB2/jbUlVYWFiN21xOobTZbCouLnYsFxcXKyAgoMY2lZWVKi0tlb+/v7Zu3aoePXrIarXqpptuUqdOnfSPf/zjSscBAAAAADc0lwEuIiJCBQUFKiwsVEVFhbKzsxUdHe3UplevXsrMzJR04cElkZGRslgsCgoKcnwerqysTHl5eWrZsuU1GQgAAAAAXO9cTqH09PTUxIkTNW/ePNntdg0YMEDh4eFKT09XRESEoqOjFRcXpyVLligxMVH+/v5KSkqSJN199936/e9/rxkzZsgwDA0YMECtW7e+5oMCAAAAgOuRW98DFxUVpaioKKd1I0eOdPzs7e2t6dOnV9nPx8en2vUAAAAAgNpzOYUSAAAAANAwEOAAAAAAwCQIcAAAAABgEgQ4AAAAADAJAhwAAAAAmAQBDgAAAABMggAHAAAAACZBgAMAAAAAkyDAAQAAAIBJEOAAAAAAwCSs9d0BAAAAXL3KSffVdxf+6cPs+u4BcN3iDhwAAAAAmAQBDgAAAABMggAHAAAAACZBgAMAAAAAkyDAAQAAAIBJEOAAAAAAwCQIcAAAAABgEgQ4AAAAADAJAhwAAAAAmAQBDgAAAABMggAHAAAAACZBgAMAAAAAkyDAAQAAAIBJEOAAAAAAwCQIcAAAAABgEgQ4AAAAADAJAhwAAAAAmAQBDgAAAABMggAHAAAAACZBgAMAAAAAkyDAAQAAAIBJEOAAAAAAwCQIcAAAAABgElZ3GuXm5iotLU12u10DBw7UkCFDnLaXl5dryZIlOnTokJo0aaKkpCQFBwdLko4cOaI333xTZ8+elcVi0UsvvSRvb++6HwkAAAAAXOdcBji73a7ly5dr1qxZstlsmjlzpqKjo9WqVStHm82bN8vPz0+pqanKysrSypUr9dhjj6myslKpqamaNm2a2rRpo1OnTslqdSszAgAAAAAu43IKZX5+vkJDQxUSEiKr1arY2Fjl5OQ4tdm5c6f69+8vSYqJidHevXtlGIb27Nmjm2++WW3atJEkNWnSRB4ezNoEAAAAgCvh8nZYSUmJbDabY9lmsykvL6/GNp6envL19dWpU6dUUFAgi8WiefPm6eTJk4qNjdXgwYOrnCMjI0MZGRmSpJSUFAUFBV3VoOrKifruQAPVUN6fhoZ6qR71UhW1Uj1qpXoNqV6sVivvUwNGraA2qBfzchngDMOoss5isbjVprKyUgcOHNBLL72kRo0a6fnnn1e7du10yy23OLWNj49XfHy8Y7moqMjtAeCXx/uD2qBe4C5qpeGrqKjgfYJbqBXUBvVSVVhYWI3bXAY4m82m4uJix3JxcbECAgKqbWOz2VRZWanS0lL5+/vLZrOpa9euatq0qSSpZ8+eOnz4cJUABwAAAODGdMdrW+u7Cw7rx3Su7y645DLARUREqKCgQIWFhQoMDFR2drYeeeQRpza9evVSZmamOnbsqG3btikyMlIWi0W33nqrPvroI507d05Wq1X79+9XQkLCNRsMAAC4dvhHFgDUP5cBztPTUxMnTtS8efNkt9s1YMAAhYeHKz09XREREYqOjlZcXJyWLFmixMRE+fv7KykpSZLk7++vhIQEzZw5UxaLRT179lRUVNQ1HxQAAAAAXI/ceqZ/VFRUleA1cuRIx8/e3t6aPn16tfv27dtXffv2vYouAgAAAAAkN75GAAAAAADQMBDgAAAAAMAkCHAAAAAAYBIEOAAAAAAwCQIcAAAAAJgEAQ4AAAAATIIABwAAAAAmQYADAAAAAJMgwAEAAACASRDgAAAAAMAkCHAAAAAAYBIEOAAAAAAwCQIcAAAAAJiEtb47AAAAgOvLHa9tre8uOKwf07m+uwDUKe7AAQAAAIBJEOAAAAAAwCQIcAAAAABgEgQ4AAAAADAJAhwAAAAAmAQBDgAAAABMggAHAAAAACZBgAMAAAAAkyDAAQAAAIBJEOAAAAAAwCQIcAAAAABgEgQ4AAAAADAJAhwAAAAAmAQBDgAAAABMggAHAAAAACZBgAMAAAAAkyDAAQAAAIBJEOAAAAAAwCQIcAAAAABgEgQ4AAAAADAJqzuNcnNzlZaWJrvdroEDB2rIkCFO28vLy7VkyRIdOnRITZo0UVJSkoKDgx3bi4qK9Nhjj+mBBx7QfffdV7cjAAAAAIAbhMs7cHa7XcuXL1dycrIWLlyorKwsHT161KnN5s2b5efnp9TUVCUkJGjlypVO2//4xz+qZ8+eddtzAAAAALjBuAxw+fn5Cg0NVUhIiKxWq2JjY5WTk+PUZufOnerfv78kKSYmRnv37pVhGJKkHTt2KCQkRK1atar73gMAAADADcTlFMqSkhLZbDbHss1mU15eXo1tPD095evrq1OnTsnb21vr16/Xs88+q48++qjGc2RkZCgjI0OSlJKSoqCgoCsaTF07Ud8daKAayvvT0FAv1aNeqqJWqketVI96qR71UhW1Uj1qpXrUS/XMUC8uA9zFO2mXslgsbrVZs2aNEhIS5OPj87PniI+PV3x8vGO5qKjIVbdQj3h/UBvUC9xFraA2qBe4i1pBbTSUegkLC6txm8sAZ7PZVFxc7FguLi5WQEBAtW1sNpsqKytVWloqf39/5efna/v27Vq5cqXOnDkji8Uib29v3X333VcxHAAAAAC4MbkMcBERESooKFBhYaECAwOVnZ2tRx55xKlNr169lJmZqY4dO2rbtm2KjIyUxWLR888/72izZs0a+fj4EN4AAAAA4Aq5DHCenp6aOHGi5s2bJ7vdrgEDBig8PFzp6emKiIhQdHS04uLitGTJEiUmJsrf319JSUm/RN8BAAAA4Ibi1vfARUVFKSoqymndyJEjHT97e3tr+vTpP3uMESNGXEH3AAAAAAAXufwaAQAAAABAw0CAAwAAAACTIMABAAAAgEkQ4AAAAADAJAhwAAAAAGASBDgAAAAAMAkCHAAAAACYBAEOAAAAAEyCAAcAAAAAJkGAAwAAAACTIMABAAAAgEkQ4AAAAADAJAhwAAAAAGASBDgAAAAAMAkCHAAAAACYBAEOAAAAAEyCAAcAAAAAJkGAAwAAAACTIMABAAAAgEkQ4AAAAADAJAhwAAAAAGASBDgAAAAAMAkCHAAAAACYBAEOAAAAAEyCAAcAAAAAJkGAAwAAAACTIMABAAAAgEkQ4AAAAADAJAhwAAAAAGASBDgAAAAAMAkCHAAAAACYBAEOAAAAAEyCAAcAAAAAJkGAAwAAAACTIMABAAAAgElY3WmUm5urtLQ02e12DRw4UEOGDHHaXl5eriVLlujQoUNq0qSJkpKSFBwcrL/97W9auXKlKioqZLVaNW7cOHXr1u2aDAQAAAAArncu78DZ7XYtX75cycnJWrhwobKysnT06FGnNps3b5afn59SU1OVkJCglStXSpKaNGmip556Sq+++qqmTp2q1NTUazMKAAAAALgBuAxw+fn5Cg0NVUhIiKxWq2JjY5WTk+PUZufOnerfv78kKSYmRnv37pVhGGrbtq0CAwMlSeHh4SovL1d5eXndjwIAAAAAbgAup1CWlJTIZrM5lm02m/Ly8mps4+npKV9fX506dUpNmzZ1tNm+fbvatm0rLy+vKufIyMhQRkaGJCklJUVBQUFXNpo6dqK+O9BANZT3p6GhXqpHvVRFrVSPWqke9VI96qUqaqV61Er1qJfqmaFeXAY4wzCqrLNYLLVq8/3332vlypV65plnqj1HfHy84uPjHctFRUWuuoV6xPuD2qBe4C5qBbVBvcBd1Apqo6HUS1hYWI3bXE6htNlsKi4udiwXFxcrICCgxjaVlZUqLS2Vv7+/o/38+fM1depUhYaGXtEAAAAAAABuBLiIiAgVFBSosLBQFRUVys7OVnR0tFObXr16KTMzU5K0bds2RUZGymKx6MyZM0pJSdGoUaPUuXPnazIAAAAAALhRuJxC6enpqYkTJ2revHmy2+0aMGCAwsPDlZ6eroiICEVHRysuLk5LlixRYmKi/P39lZSUJEnauHGjfvjhB61du1Zr166VJM2aNUs33XTTtR0VAAAAAFyH3PoeuKioKEVFRTmtGzlypONnb29vTZ8+vcp+999/v+6///6r7CIAAAAAQHJjCiUAAAAAoGEgwAEAAACASRDgAAAAAMAkCHAAAAAAYBIEOAAAAAAwCQIcAAAAAJgEAQ4AAAAATIIABwAAAAAmQYADAAAAAJMgwAEAAACASRDgAAAAAMAkCHAAAAAAYBIEOAAAAAAwCQIcAAAAAJgEAQ4AAAAATIIABwAAAAAmQYADAAAAAJMgwAEAAACASRDgAAAAAMAkCHAAAAAAYBIEOAAAAAAwCQIcAAAAAJgEAQ4AAAAATIIABwAAAAAmQYADAAAAAJMgwAEAAACASRDgAAAAAMAkCHAAAAAAYBIEOAAAAAAwCQIcAAAAAJgEAQ4AAAAATIIABwAAAAAmQYADAAAAAJMgwAEAAACASVjdaZSbm6u0tDTZ7XYNHDhQQ4YMcdpeXl6uJUuW6NChQ2rSpImSkpIUHBwsSfrwww+1efNmeXh4aMKECerRo0fdjwIAAAAAbgAu78DZ7XYtX75cycnJWrhwobKysnT06FGnNps3b5afn59SU1OVkJCglStXSpKOHj2q7OxsLViwQM8884yWL18uu91+bUYCAAAAANc5lwEuPz9foaGhCgkJkdVqVWxsrHJycpza7Ny5U/3795ckxcTEaO/evTIMQzk5OYqNjZWXl5eCg4MVGhqq/Pz8azIQAAAAALjeuZxCWVJSIpvN5li22WzKy8ursY2np6d8fX116tQplZSUqEOHDo52gYGBKikpqXKOjIwMZWRkSJJSUlIUFhZ2ZaOpa3/dWd89cMhx3QT1jXqBu6gV1Ab1AndRK6gN6sW0XN6BMwyjyjqLxeJWm+rWVyc+Pl4pKSlKSUlxq/2N6Omnn67vLsBEqBe4i1pBbVAvcBe1gtqgXmrHZYCz2WwqLi52LBcXFysgIKDGNpWVlSotLZW/v3+VfUtKShQYGFhXfQcAAACAG4rLABcREaGCggIVFhaqoqJC2dnZio6OdmrTq1cvZWZmSpK2bdumyMhIWSwWRUdHKzs7W+Xl5SosLFRBQYHat29/TQYCAAAAANc7zzlz5sz5uQYeHh4KDQ1VamqqNm7cqD59+igmJkbp6ekqKytTWFiYbr75Zm3dulWrVq3Sd999p9/+9rfy9/fXTTfdpNOnT+uNN97Q1q1bNXHixIbz+TYTateuXX13ASZCvcBd1Apqg3qBu6gV1Ab14j6L4e4H1QAAAAAA9crlFEoAAAAAQMNAgAMAAAAAkyDAAQAAAIBJuPwi7xvF1KlTdf78eaWmpsrHx0eStGnTJm3ZskWXPufFMAwlJibKy8tLCxcudDrGnDlz1KdPH/Xs2VNTpkzRokWLFBoa6tTmlVdeUUhIiH7zm99oxIgRatSokdP24cOHa/DgwVX69/rrr+uLL77Qk08+6fQU0D/+8Y/asGGDpkyZov79+0u68FUPK1euVG5ursrLy9WqVSsNHz5cvXr1cux36bm9vLzUpk0bxcfHKzY21mk8eXl58vD4Z86PjIzU008/rW+//VapqalaunSpO5cXdSgzM1Mff/yxTpw4ocaNG+u2227T6NGj5efnpzVr1uiHH37QI488UmW/AwcOaMWKFfr+++/l4eGhVq1aafz48TwZ9joxZ84cHTlyRG+++aa8vLwkXfi7sXXrVlmtVlmtVrVr104TJ05Uy5YtJV2opd///vdKSEjQ+PHjHcfasWOH5s+fr379+mnq1KmO9WVlZZo0aZK6du2qmTNn/rIDRJ270pr5wx/+IG9vb0lS06ZNFRkZqSFDhjgeUlZYWKhp06Zp9erV8vT0rJ/B4ZqYOnWqJk+erO7du0uSsrKy9NZbb+mJJ57QnDlz1LNnT6e/DYsXL1ZoaKhGjBihb7/9Vr/73e80aNAgPfzww442zz77rAYOHOj4NwyuH9X9u2P06NF68cUX9eabb6px48ZO7Z988knFxcUpKipK06ZNc/w7tWnTprrzzjs1ZMiQ+hhGg0SAu0RlZaU2bNigYcOG1dhm//79+umnn2S325Wfn1/tP34DAwN1yy236Msvv9SIESMc60+fPq3du3c7fWH5K6+8UiXk1aRFixbKzMx0BLjKykp99dVXCgkJcTrH7NmzFRkZqQULFsjX11c7duzQ4sWL9R//8R+KiYmpcu6TJ08qNzdXy5cv17Fjx/TAAw842kycOFEDBw50q3+49j7+v/buN6apq48D+JfSVlYpA4o4BXHiREDFCgID+gcHTGWK0ykxDhUzyJaoiS4uMxHEDN30hXmWbCpzczDURZ1EHRgzIwutVlfDBFRKQTf/ThwiaFVkBevzwtBY2+Imola+n4QXPefcc0/hcu/53XPuuaWl+Pnnn7Fw4UKMHj0aLS0t2LJlC1avXo38/Hyn27W1tWHt2rXIyspCfHw8Ojs7UVdXZ+20kWtrampCXV0dJBIJKisrERcXZ82bNm0aZs+eDbPZjG+//RYFBQU2x8rAgQNx9OhRZGRkWDvbWq0WgwYNstvPb7/9BpFIhJqaGrS2ttq9E5RcR0+OmZCQEOTn58NisaCpqQllZWVYvnw5Vq9ejaCgoOfxdeg5qKioQHFxMZYvX249F5w5cwZGoxGhoaEOt+nXrx+0Wi3S0tLg7+//LJtLz5izfodEIoGvry/0er1N0H7x4kVcvnwZCQkJuHv3LoAHgxTu7u74448/sGrVKgQHB1tvHvR1nEL5kLS0NJSWluLOnTtOy1RUVCA6Ohrjxo2DRqNxWk6tVuPw4cM2aTqdDkOGDHniC1xUVBTq6+tx+/ZtAEB1dTWGDh0Kb29va5mysjJ4eHjgo48+gre3N8RiMRQKBaZPn47i4mI4WnTUy8sLKpUK2dnZ2Lt3L27duvVE7aPe1dbWhl27dmHBggWQy+UQCoXw9/fH0qVLce3aNWi1WqfbNjY2AgAUCgUEAgHEYjHGjh2LoUOHPqvmUy/SarUICQlBYmKi0/OSWCxGXFwczp8/b5Pu7e2NoKAg1NTUAHhwE6i+vt7ufZ8AoNFokJKSgqFDh9qd38i19OSY6dL1mqGsrCyEh4fjp59+6sUW04vk0KFD2Lp1K1asWIGRI0da09PS0rBz506n2/Xv3x+JiYnYvXv3s2gmPUfd9TvUarXdeUer1SIyMhJSqdSuruHDhyMwMNDpuagvYgD3kODgYIwaNQqlpaUO8//55x/o9XooFAooFAocPXoUnZ2dDsvGxMTAZDLBaDRa07RaLVQq1RO3TywWW1+ODjzoTD1a36lTpxAbG2sz7REA4uPj0dzcbP2HcmT8+PG4d+8ezp49+8RtpN7T0NCAjo4OxMbG2qR7eHhALpfj5MmTTrcdNGgQBAIBvv76a1RVVVlvAtDLQaPRQKFQQKlUoqamBjdu3LAr097eDp1O53DE/+GLqU6nQ3R0tN3obHNzMwwGA5RKJRQKRbc3DOjF19Nj5lExMTE21zt6eR08eBA7d+5Ebm4uhg8fbpM3adIkXLlypdvr0YwZM6DX63HlypXebio9R931O1QqFYxGI5qbmwEAFosFR44ccdpHbmhowKVLl/71jLW+gAHcI9LT03HgwAGYTCa7PL1eD6FQiLFjxyIqKgr37t3DiRMnHNbTdeeyq1PU2NiIP//8EwqFwqbcp59+iszMTOtPdXV1t+3r6mi1tbWhrq4OMTExNvkmk8lmRK5LV5qj79VFKBRCKpXa/JMVFhbatG/Hjh3dto96j8lkglQqdfhMiY+PT7cjpxKJBJ999hnc3NzwzTffICsrC+vWrXPYaSPX0nURjIuLQ3BwMAYOHIgjR45Y80tLS5GZmYn58+fDaDRi0aJFdnXExMTAYDCgra3N6Y0mjUaDoKAgBAYGIiEhAZcuXcK5c+d69btR73gax8yjfH19eWOojzh16hRGjBjhcDaRSCTCjBkzuh2F8/b2RkpKSrdlyPV11+/w8/NDeHi49Ubg6dOn0dHRgcjISJs6PvjgA7z//vvIycnB22+/jejo6OfxVV5IDOAeERQUhKioKOzdu9cuT6PRIC4uDu7u7hCJRIiJiUFFRYXTutRqNY4dOwazjxxydgAACbdJREFU2QytVgu5XI5XX33Vpsy6detQVFRk/ZHL5d22LzQ0FCaTCSUlJYiMjLQ+SN7Fy8vLYae8K83Ly8tp3Z2dnTCZTPD09LSmLViwwKZ9s2fP7rZ91Hu8vLxw69Yt3Lt3zy6vtbXV4bSDhwUGBmLhwoUoKCjA+vXr0draiqKiol5qLT0rFRUViIiIsP5vKxQKm6kpU6dORVFRETZs2ACxWOzwrrdYLMa4ceNQUlICk8nk8PkVrVYLpVIJ4EFnPTw8vNtp5PTiehrHzKNaWlpsrh308srOzkZjYyMKCgocPpaRlJSEGzduoLKy0mkd06ZNQ01NDafEveS663eo1WprAKfVapGQkACh0HZpji1btmDr1q2YO3cuDAaDw/5PX8UAzoH09HSUl5ejpaXFmnb9+nWcPn0ahw8fRnZ2NrKzs6HX61FVVeV0VCssLAxSqRSVlZU4fPgw1Gr1U2mfUqlEWVmZw/rGjBkDvV4Pi8Vik3706FHIZDKHCxN0qayshLu7O1clfEGFhIRAJBJBr9fbpLe3t6O6uhpjxoz513UFBAQgMTERly5detrNpGfIbDbj2LFjMBgM1vPS/v37ceHCBbuOkZ+fn/WGjNlstqtLrVajrKzM4ehbfX09GhsbsWfPHut+zp49C51Oxwuqi3max8zDjh8/7nThCnq5eHl5ITc3F0ajEd99951dvlAoxKxZs7odYZNKpUhNTeUoXB/yaL8jJiYGLS0tOH36NPR6vdM+skAgwNSpUyESifDLL788yya/0LgKpQOvvfYa4uLicODAAesUAa1Wi8GDByMvL8+mbE5ODnQ6HSZPnuywLpVKhe3bt6Otrc1mGf+eSE1NRVhYGMLCwuzy3nnnHWg0GhQUFGDOnDnWVSj37NmDDz/8EG5ubnbbdK2OWVxcjGnTpj12JOdhj17URSKRw31Qz0kkEsycOROFhYWQSCQ2q1DKZDKoVCrs2bMH9+/ft/m7uLm5oampCSdOnEB8fDxkMhmam5uh0+kwYsSI5/iNqKeOHz8OgUCA9evX29y5/N///ufwGbWIiAj4+Pjg0KFDSE1NtckLDw9HTk4Ohg0bZredRqNBRESEzVQ6s9mMZcuWoaqqyuGCJ/RieprHjMViQXNzM8rKylBbW4s1a9bY5Hd0dNgE+EKh0O75bHJNvr6+WLlyJfLy8lBUVGR3bKhUKuzbtw/V1dWYNGmSwzqmTJmCxYsXOxzFI9f3119/ddvv8PDwwJtvvolNmzZhwIABds9TPurdd9/F5s2bkZKSYjf7rC9iAOfEzJkzbVZZ02g0mDhxot3zZSkpKdBoNE4DOLVajd27dyM5Odnhku2ffPKJzeekpCRkZmZ22zZPT0+noy1SqRT5+fnYtm0bli5dis7OTgQGBmLRokV2c4e79i0UCvH6669j/vz5ds/off/99zbT7AYPHox169YBeDBlJiMjw6Z81ztfqHd0Bdhbt27F1atXIZFIEB0dbX03IfBgEQqdTmfdxtfXF59//jnOnDmDsrIytLW1QSKRICoqyu7vR65Fo9FgwoQJ8PPzs0mfOHEiCgsLHZ4n0tLS8MMPPyAlJcUm3c3NzWH5rhGbhQsX2p3/VCoVNBoNAzgX8jSOmYaGBsydOxfAg2tOeHg4vvjiCwQGBtpsN2/ePJvPOTk5XAL8JeLn54e8vDzk5eXZPbohEAgwa9YsfPnll063l0gkSEtLw/bt23u7qfQcvPLKK4/td6jValRUVGDOnDmPrS8yMhL9+/dHeXm50z53X+J2n7c+iIiIiIiIXALnMhAREREREbkIBnBEREREREQuggEcERERERGRi2AAR0RERERE5CIYwBEREREREbkIBnBEREREREQuggEcERERERGRi+CLvImIyGWsWrUKBoMBS5YsQXx8vDX9zJkzWLFiBQYMGIANGzYAAC5fvoydO3eitrYWZrMZ/v7+eOutt5CamgqB4MH9y4qKCmzatAlisRgCgQAikQhDhgyBUqlEYmKiw3IPmzhxIjIyMlBbW4v8/Hzs2LHDYbuPHTuGffv24erVqwAAmUyG5ORkvpCWiIj+MwZwRETkUgICAlBeXm4TwJWXlyMgIABmsxkAcOHCBeTm5kKpVGL9+vWQSqUwGAzYuHEjzp8/j0WLFlm39ff3x1dffQUAaG9vR01NDYqKinDixAksW7bMYbn/or6+Hps2bcLHH3+MiIgIWCwWXLx4EdeuXXvSXwEREfVhnEJJREQuJTY2FufPn8fff/8NALh79y70ej0mTJhgLVNcXIzhw4cjOzsbPj4+EAqFiIiIwOLFi6HVamE0Gh3W7eHhgdjYWCxevBjHjx/HyZMne9zehoYGBAQEQC6XQyAQQCgUIjg4GLGxsT2um4iI+h4GcERE5FJEIhEUCgV+/fVXAIBOp0NYWBi8vb0BAGazGbW1tVAqlXbbjho1CjKZDFVVVd3uIzw8HD4+Pjh16lSP2zty5EicO3cOhYWFqKqqws2bN3tcJxER9V2cQklERC4nKSkJa9asQXp6Og4dOoT09HTcvn0bAHD79m1YLBb4+vo63NbHx+dfBVEymQy3bt2yfm5qakJmZqZNmaysLCgUim7rCQkJwapVq3Dw4EFs3rwZLS0tGDZsGObPn4+wsLDHtoOIiOhhDOCIiMjlBAUFwc/PDyUlJbh58ybkcjmOHDkCAPD09IRAIEBLS4vDbVtbWzF69OjH7uP69esYNWqU9fOTPgMHAKGhoQgNDQUANDc3Y9u2bVi7di02btyI/v37P1GdRETUN3EKJRERuaTk5GSUlJRgwoQJ1tUiAUAsFiMsLMwa0D3MYDDg+vXrGDduXLd1G43Gfx3o/Vd+fn6YMWMG7t69a32Oj4iI6N/iCBwREbmkhIQEyGQyBAcH2+XNmzcPK1euxJYtW/Dee+/B09MTdXV12LhxIxQKhdOpi+3t7Th58iSKioowfvx4jB079j+1qWsVzC7u7u74/fffcefOHcjlcvj4+MBkMmH//v2QSqUICAj4T/UTERExgCMiIpckFosRERHhMG/YsGFYs2YNdu3ahaVLl6KjowMDBgzA5MmTMWXKFJuyTU1NmDt3Ltzc3KzvgZs+fTqSkpIclntYVFQUlixZAgCwWCzIyMiwyU9OToZSqUR5eTl+/PFHtLe3w8PDA2+88QZyc3PRr1+/nv4aiIioj3G7f//+/efdCCIiIiIiIno8PgNHRERERETkIhjAERERERERuQgGcERERERERC6CARwREREREZGLYABHRERERETkIhjAERERERERuQgGcERERERERC6CARwREREREZGL+D8Y+zA+ZYSkh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6643702" y="1785932"/>
          <a:ext cx="2143140" cy="1859280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714380"/>
                <a:gridCol w="714380"/>
                <a:gridCol w="714380"/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endParaRPr lang="pl-PL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000" b="1" dirty="0" smtClean="0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000" b="1" dirty="0" smtClean="0"/>
                        <a:t>MAE</a:t>
                      </a:r>
                      <a:endParaRPr lang="pl-PL" sz="1000" b="1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b="1" dirty="0"/>
                        <a:t>NAIVE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/>
                        <a:t>0.167860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dirty="0"/>
                        <a:t>0.091059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b="1" dirty="0"/>
                        <a:t>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dirty="0"/>
                        <a:t>0.113211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/>
                        <a:t>0.087110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b="1" dirty="0"/>
                        <a:t>ARMA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dirty="0"/>
                        <a:t>0.124843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dirty="0"/>
                        <a:t>0.080011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b="1" dirty="0"/>
                        <a:t>ARDL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/>
                        <a:t>0.082121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/>
                        <a:t>0.058620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b="1" dirty="0"/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l-PL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0.079783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l-PL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0.056937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b="1" dirty="0"/>
                        <a:t>SVR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/>
                        <a:t>0.081393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dirty="0"/>
                        <a:t>0.059047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9700" name="Picture 4" descr="C:\Users\wozni\Desktop\pobrane (7)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214428"/>
            <a:ext cx="6072198" cy="30913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35668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8ED3F5D5-D987-4CD0-A25C-52F18EDA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58" y="71420"/>
            <a:ext cx="8229600" cy="85725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</a:pPr>
            <a:r>
              <a:rPr lang="pl-PL" sz="2800" b="1" dirty="0" err="1" smtClean="0">
                <a:cs typeface="Segoe UI Light"/>
              </a:rPr>
              <a:t>Final</a:t>
            </a:r>
            <a:r>
              <a:rPr lang="pl-PL" sz="2800" b="1" dirty="0" smtClean="0">
                <a:cs typeface="Segoe UI Light"/>
              </a:rPr>
              <a:t> </a:t>
            </a:r>
            <a:r>
              <a:rPr lang="pl-PL" sz="2800" b="1" dirty="0" err="1" smtClean="0">
                <a:cs typeface="Segoe UI Light"/>
              </a:rPr>
              <a:t>results</a:t>
            </a:r>
            <a:r>
              <a:rPr lang="pl-PL" sz="2800" b="1" dirty="0" smtClean="0">
                <a:cs typeface="Segoe UI Light"/>
              </a:rPr>
              <a:t> and </a:t>
            </a:r>
            <a:r>
              <a:rPr lang="pl-PL" sz="2800" b="1" dirty="0" err="1" smtClean="0">
                <a:cs typeface="Segoe UI Light"/>
              </a:rPr>
              <a:t>conclusions</a:t>
            </a:r>
            <a:endParaRPr lang="pl-PL" sz="2800" b="1" dirty="0" smtClean="0">
              <a:cs typeface="Segoe UI Light"/>
            </a:endParaRPr>
          </a:p>
        </p:txBody>
      </p:sp>
      <p:sp>
        <p:nvSpPr>
          <p:cNvPr id="18434" name="AutoShape 2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36" name="AutoShape 4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39" name="AutoShape 7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441" name="AutoShape 9" descr="data:image/png;base64,iVBORw0KGgoAAAANSUhEUgAAA3gAAAG5CAYAAADcRZZ2AAAABHNCSVQICAgIfAhkiAAAAAlwSFlzAAALEgAACxIB0t1+/AAAADh0RVh0U29mdHdhcmUAbWF0cGxvdGxpYiB2ZXJzaW9uMy4xLjMsIGh0dHA6Ly9tYXRwbG90bGliLm9yZy+AADFEAAAgAElEQVR4nOzdfZxU9X33//dnWYhBjDcDGFYFA5he1fQmKdUY682uFYGYmPqzqU5vEvGqF7/UtL0SxJikaZrGUpVfmzaXuTBt9tLebL3SFKOhWOCSNSZKTODKjRJjs5AswVWBQREkCst+fn+cs2Rm3Js5O3Pm3Mzr+Xjsgz0zZ875zJfZM+dzPt/v95i7CwAAAACQfW1JBwAAAAAAaAwSPAAAAADICRI8AAAAAMgJEjwAAAAAyAkSPAAAAADICRI8AAAAAMgJEjwASDkzu9vMPt2E/VxgZj80s4Nm9p6495dXZnaJme2KcfurzexP4tp+1b5eZ2bfN7M3NmN/WWBm3zSzc5KOAwBGQ4IHADUysx+b2U/DBOgFM/t3Mzsj6bjKmZmb2fwJvvxTkv6Hu09z9y83IJa7zexw2F7DP981swvLll8OYy5fZ7aZPWxmr4TLe81sjZnNqjemONTZ5uNt+/1m9vXyx9x9mbv/eRz7G8ENkh5x9+fCeG4ysyfN7ICZ/cjMbqqK90wz6zWzQ2b2AzP79arn/7uZPWdm+82s28xeV/Zc+d/XQTPbMFpQZvZmM7vfzPaY2T4zW29mPxdhX39uZk+Y2aCZfbLqdZeY2VDVZ/J9ZausUvC3AgCpRIIHANG8y92nSZol6XlJn004nkaaI2nbRF5oZu2jPHV7mDAO//ySu39teFnScCXkpLJ1doaP3RiuM1/SNAUn1okZ4z3m2X+T9I9lyybp9ySdLGmRpBvN7Jqy5/9F0rclFSR9TNKXzGyGJJnZ5ZI+IulSSWdKmivpz6r2966yz8HCMeI6SdIDkn5O0qmSvinp/mNBjr+vPkkrJP37KNsfqPrc3lP23AOSOtN6wQEASPAAYALc/RVJX5J09vBjZnaimf1DWFXoN7OPm1lb+Nz/NLMvla17m5k9ZIFLzGyXmX00rFb92Mx+e7R9m9nvm1lfWLl4wMw6wscfCVf5blh1+C0zm25ma83sxXD9rw3HVLXN7QpOgr8SvvZ1ZtYRbn9fuL/fL1v/k2b2JTP7JzN7SdL762rQMbj7i5K+LOmXR1tntLYP38eLZvaWsnVnhJWimeHyFWb2nXC9x8zsF8vW/bGZ3Wxm35P0cnWSN1Kblz33YTPbbWbPmtl1ZY+/zsxWmdlOM3vegi6Xrx/hPf28pNWSzg+3/WL4+LEuu2WfnRVl+3qPmS0xs/8M/+8+WrbNNjP7iJltN7OSmX3RzE4ZpU1nS5on6fGy/4vb3f3/uvuguz+tIKm6IFz/zZLeJulP3f2n7v5vkp6Q9P+EL3+fpC+4+zZ3f0HSn2uCnxt3/6a7f8Hd97n7EUl/LennzKxQy77c/R53f1DSgQns+xVJWyWNlYACQGJI8ABgAsxsqqTfkvSNsoc/K+lEBYnSxQoqHcMn9h+W9IsWdLm7UNL1kt7n7h4+/0ZJ0yWdpuDk9PNW1eUs3G+XpJWS3qugitgv6V5JcveLwtV+Kaw6/O9wv7skzVBQ6fioJK/errvPk7RTP6ugvKqgGrNLUoekqyX9hZldWvayKxUkuSdJ+ufx2myiwpP2qxRUXUYzYtuH72ONpGvL1n2vpK+6+24ze5ukbgWVqoKkuyQ9YGXd+cLXvlNBlXGwfKejtLkU/H+eqOD/83pJd5rZyeFzt0l6s4KEdX64zieq35C7PyVpmaTN4bZPGuW9v1HScWXb+TtJvyPpVyRdKOkTZjY3XPcPJb0nbKMOSS9IunOU7f6CpB3V73mYmVm4/eGq7znh+uVJ03f1syrtOeFy+XOnliVlkvTPYZK+wcx+aZS4RnKRpOfcvRRhX2OZGSbfPzKzvzaz46uef0pSlPgAoGlI8AAgmi+HlZSXJF0m6Q5JMrNJChK+W9z9gLv/WNL/J+l3JcndDyk46f4rSf8k6YPuXj0Rx5+4+6vu/lUFXcfeO8L+f1tSd1hFeVXSLQoqPGeOEu8RBYngHHc/EnaPfE2CV82CsYW/Julmd3/F3b8j6e+H309os7t/2d2H3P2no2xqeVgZG/65Z5T1RvK3ZrZf0l4Fye8HR4l1zLaX1KPKBK8YPiZJvy/pLnd/3N2Phl3xXpX09vI43P0nY7zHkRyR9KmwzddJOqigwmThPv97WH06IOkvJF0zxrZq2detYSXrXgVt9TdhW2xTkIANVyX/m6SPufuu8PPzSUlXV1cmQydp7ArXJxWcR/yvcHmapP1V6+yXdMIozw//Pvz8byvoTjlHUq+k9WY2WlJ7jJmdriBJ/VDZw+Ptayw/UJB8z5LUpSBR/quqdQ4oaB8ASB0SPACI5j1hJeV1km6U9FULZhicLmmKgorasH4FVRVJQbcySTsUjGP6YtV2X3D3l6te2zHC/jvK9+HuByWVyvdT5Q4Fla8NZrbDzD4y7jv82X6GE5DymMr385MatrPK3U8q+3nf+C855g/d/UQFycnJkk4fZb3x2n6TpNeb2XlmNkfByft94XNzJH24PAmVdIYq276W91mtVFX5OqQg6ZghaaqkrWX7+4/w8YkqufvR8PfhJPT5sud/Gu5bCt7vfWX7fkrSUQXV3WovaJSEyMxuVFAlfWeYKEpBEvuGqlXfoJ8lidXPD/9+QJLc/dGwa+chd18p6UUFFUJZ1SQ8ZXHMkLRB0ufc/V/Ktj3mvsbi7s+5+/fDCxc/UjBW7+qq1U4I4wOA1CHBA4AJCKs9axScHP+agirTEQUn0MNmS3pmeMHM/kBBYjig4KSx3MlV3cBmh+tVGyjfR/iaQvl+quI84O4fdve5kt4l6UNV3SxHMyDpFDMrP8GveD8aoatnHNz9CUmfVtDN0UZYZcy2d/chBQn1tQqqd2vLEtefKKh+lSehU6uShUa+z70KEq5zyvZ3YjiZzEga3cY/kbS46v0e5+4jfX6+J2nuCOMOlyqcwKSqCr0tXL/8M/NL+lkXzm2q7Nb4S5KeL+tWWc0VXAxR1YQnO8M4TlaQ3D3g7rdWvTbqvsZyLI4yP6/KLqAAkBokeAAwARa4UkFl6amwgvJFSbea2QlhpehDCrpjDk9A8WkF3TR/V9IKM6ueNOTPzGxKOEbvCkn/OsKueyRdZ2a/HI4T+wtJj4fdEqWgcjM83mp4ApH5YWL0koKE9KjG4e4/kfSYpJVmdpwFE49crxjH2o3jHkkzJb27+onx2j7Uo6Ab52/rZ90zpWC82rKwumdmdryZvbMqSRlPRZuPJUw2/07SX9vPJnk5zYJZH0fb9ulmNiVCPGNZraCd5oT7nhF+jkeKdZekH0o6d/gxCyb/+QtJl7n7jqr1/1PSdyT9afiZ+Q0F1dd/C1f5B0nXm9nZYXL2cUl3h9udbcF9GKeEr71JQWX20ZFiM7M3SFov6VF3H6kqPeq+wtdPNrPjFJwHtYf7nBQ+d0kYj4Vdlf9SlTN0vk5Bt82NI8UGAEkjwQOAaL5iZgcVJEu3KpgoZbhC8UFJLyvohvl1BYlEd1gB+SdJt7n7d939hwomO/nHssk8nlPQJW5AQRK1zN1/UL1zd39I0p8oOGl+VsEsh+Xjtz4p6Z6wC957JZ0l6f8o6LK2WUFXtodrfK/XKhgTNaCgS+OfunvUk9oVVd3r9kZ8vSTJ3Q9L+lsF730kI7Z92esfD5/vkPRg2eNbFIyJ+x8K2r9P0Wd2/KQq23w8N4f7+YYFM5D+HwXT/Y9kk4Jq1HMTbbsqf6Ngmv8NZnZAwSRB542x/l2qHHf5aQUV42+V/Z+uLnv+GkkLFLTlX0q62t33SJK7/4ek2xWMr+sPf/40fN0Jkv5n+LpnFNyCYfEYFbffkPSrCi52vKb75jj7koIk+6cKPuMfC38ffp9vU/C38rKCixxPKpicZti7JT3s7iNV2AEgcVbDWHsAQIzM7BJJ/+Tuo40xAxIRXoD4toLumM8mHU8amNnjkq539yeTjgUARtKKN20FAAA1CCdQOXvcFVuIu49V8QSAxNFFEwAAAABygi6aAAAAAJATVPAAAAAAICcyNwZv+vTpfuaZZyYdBgAAAAAkYuvWrXvdfcZIz2UuwTvzzDO1ZcuWpMMAAAAAgESYWf9oz9FFEwAAAAByggQPAAAAAHKCBA8AAAAAcoIEDwAAAAByggQPAAAAAHKCBA8AAAAAcoIEDwAAAAByggQPAAAAAHKCBA8AAAAAcoIEDwAAAAByggQPAAAAAHKCBA8AAAAAciK2BM/Mus1st5k9OcrzZmZ/a2Z9ZvY9M3tbXLHEra+vT1dddZV27NiRdCiZ0Nvbq0WLFumRRx5JOpRMuPfee7Vo0SL967/+a9KhZMKdd96pRYsWafXq1UmHkgkcv6LbunWrlixZom9/+9tJh5IJX/nKV7Ro0SKtW7cu6VAyge/IaDiGRcPxK5ru7m4tWrRI99xzT9KhRGLuHs+GzS6SdFDSP7j7W0Z4fomkD0paIuk8SX/j7ueNt90FCxb4li1bGh1uXW644Qbt3LlTc+bM0V133ZV0OKl3xRVXaHBwUO3t7Vq7dm3S4aTeokWLjv3+H//xHwlGkg20VzQcv6K76qqrdOjQIU2dOlVr1qxJOpzUW7x4sdxdZqYHH3ww6XBSj+/IaDiGRXP11Vfr4MGDmjZtmr70pS8lHU7qpfmcwsy2uvuCkZ6LrYLn7o9I2jfGKlcqSP7c3b8h6SQzmxVXPHHp6+vTzp07JUn9/f1cQRpHb2+vBgcHJUmDg4NcoRzHvffeW7FMFW9sd955Z8UyVbyxcfyKbuvWrTp06JAk6dChQ1wFH8dXvvIVDV9IdneqeOPgOzIajmHRbN26VQcPHpQkHTx4kOPXOLq7uyuWs1TFi62CJ0lmdqaktaNU8NZK+kt3/3q4/JCkm919zPJc2ip4w1eOhnEFaWzDVyaHcYVybOVXjoal7QpSmtBe0XD8im64ejeMKt7Yhqt3w6jijY3vyGg4hkUzXL0bRhVvbGk/p0ikglcDG+GxEbNNM7vBzLaY2ZY9e/bEHFY05QcWKbiChNGVf3GNtAygeTh+RVee3I20jErVF5HjvKicB3xHRsMxLJry5G6kZeRHkgneLklnlC2fLmlgpBXd/fPuvsDdF8yYMaMpwdVq9uzZFctz5sxJKJJsaG9vH3MZQPNw/ELczGzMZVTiOzIajmHRTJs2bcxl5EeSCd4Dkn4vnE3z7ZL2u/uzCcYzIStWrKhYvvnmmxOKJBs+/OEPVyxXtx8qvf/9769Yvv7665MJJCP4so+G41d05557bsXyeeeNOzdYS/vABz5QsfzBD34woUiyge/IaDiGRXPLLbdULH/sYx9LKJJseNe73lWx/J73vCehSKKL8zYJ/yJps6SfM7NdZna9mS0zs2XhKusk7ZDUJ+nvJH1glE2l2vz584+dVM6ZM0dz585NOKJ06+zsPHZFsr29XRdddFHCEaXbNddcU7H8m7/5mwlFkg179+6tWE5bl+604fgV3R/90R+NuYxK73rXu45V7cxMS5YsSTiidOM7MhqOYdH8yq/8yrGq3bRp0/TWt7414YjSbWhoqGI5S12m45xF81p3n+Xuk939dHf/gruvdvfV4fPu7n/g7vPc/RfGm1wlzVasWKGpU6dy5ahGw1couTJZm+EqHtW78XV2dlYsd3V1JRRJdnD8iqZQKByr4p133nk65ZRTEo4o/YareFTvasN3ZDQcw6K55ZZb1NbWRvWuBps2bapYfuihhxKKJLpYZ9GMQ9pm0QSQHn19fbrxxhuPLX/uc5/jii4arlQqaeXKlfroRz9KggcAOZX2WVrTOosmADTUgw8+WNEdjHtuIQ6FQkGrVq0iuQOAHKse5rF79+6EIomOBA9AbvT29lbcVLm6ewUAAEAturq6Ki4aX3rppQlHVDsSPAC5UT1BAWPwAADARBSLxYpzimKxmHBEtSPBA5AbxWJRbW3BYa2trS1TB2MAAJAehUJBCxculJnp8ssvz1S3fBK8BiiVSlq+fLn27duXdChASysUCrrssstkZlq4cGGmDsYAACBdisWizjnnnMxdMCbBa4Cenh5t27ZNPT09SYcCtLysHowBAEC6ZHVSLRK8OpVKJW3cuFHurg0bNlDFAxKW1YMxAABAI5Dg1amnp+fYne6Hhoao4gEAAABIDAlenXp7ezU4OChJGhwcZFp2AAAAAIkhwasT07IDAAAASAsSvDoxLTsAAACAtCDBqxPTsgMAAABICxK8BmBadgAARsa9YgGguUjwGoBp2QEAGBn3igWA5iLBAwAAseBesQDQfCR4ANDC6D6HOHGvWABoPhI8AGhhdJ9DnLhXLAA0HwkeALQous8hbtwrFgCajwQPAFoU3ecQN+4VCwDNR4IHAC2K7nOIG/eKBYDmI8EDgBZF9zk0A/eKBYDmIsEDgBZF9zk0A/eKBYDmIsEDgBZF9zkAAPKnPekAAADJKRaL6u/vp3oHAEBOkOABQAsb7j4HAADygS6aAAAAAJATJHgAAAAAkBMkeAAAAEALKJVKWr58ufbt25d0KIgRCR4AAADQAnp6erRt2zb19PQkHQpiRIIHAAAA5FypVNLGjRvl7tqwYQNVvBwjwQMAAAByrqenR0NDQ5KkoaEhqng5RoIHAACATGJMWe16e3s1ODgoSRocHNSmTZsSjghxIcEDAABAJjGmrHadnZ1qbw9ugd3e3q6urq6EI0JcSPAAAACQOYwpi6ZYLKqtLTj1b2trU7FYTDgixIUEDwAAAJnDmLJoCoWCLrvsMpmZFi5cqFNOOSXpkBATEjwAAABkDmPKoisWizrnnHOo3uUcCR6AXGHAPQC0BsaURVcoFLRq1SqqdzlHggcgVxhwDwCtgTFlwMhI8ADkBgPuAaB1MKYMGBkJHoDcYMA9ALQWxpQBr0WCByA3GHAPAK2FMWXAa5HgAcgNBtwDAIBWR4IHIDcYcA8AAFodCR6A3GDAPQAAaHXtSQcAAI1ULBbV399P9Q4AALQkKngAcoUB9wDQOvr6+nTVVVdpx44dSYcCpAYJHoBcKZVKWr58OffAA4AWcPvtt+vQoUO67bbbkg4lE/iObA0keABypaenR9u2beMeeACQc319fdq5c6ckqb+/nypeDfiObA0keAByo1QqaePGjXJ3bdiwgSuUAJBjt99+e8UyVbyx8R3ZOkjwAORGT0+PhoaGJElDQ0NcoQSAHBuu3g3r7+9PKJJs4Dsyuqx2aSXBA5Abvb29GhwclCQNDg5q06ZNCUcEAIjL7NmzK5bnzJmTUCTZwHdkdFnt0kqCByA3Ojs71d4e3P2lvb1dXV1dCUcEAIjLihUrKpZvvvnmhCLJBr4jo8lyl1YSPAC5USwW1dYWHNba2tq4Fx4A5Nj8+fOPVfHmzJmjuXPnJhxRuvEdGU2Wu7SS4AHIjUKhoMsuu0xmpoULF3IvPADIuRUrVmjq1KlU72rAd2Q0We7SSoIHIFeKxaLOOeccrkwCQAuYP3++1qxZQ/WuRnxH1i7LXVrN3ZOOIZIFCxb4li1bkg4DAAAAQE6VSiVdd911Onz4sKZMmaK77747VVVPM9vq7gtGeo4KHgAAAACUyXKX1vakAwAAAACAtCkWi+rv789cl1YSPAAAAACoUigUtGrVqqTDiIwumgAAAACQE7EmeGa2yMyeNrM+M/vICM/PNrNeM/u2mX3PzJbEGQ8AAECalUolLV++PFM3VQbyKqt/j7EleGY2SdKdkhZLOlvStWZ2dtVqH5f0RXd/q6RrJH0urngAAADSrqenR9u2bcvUTZWBvMrq32OcFbxzJfW5+w53PyzpXklXVq3jkt4Q/n6ipIEY4wEAAEitUqmkjRs3yt21YcOGzFUNgDzJ8t9jnAneaZJ+Ura8K3ys3Ccl/Y6Z7ZK0TtIHR9qQmd1gZlvMbMuePXviiBUAACBRPT09GhoakiQNDQ1lrmoA5EmW/x7jTPBshMeq76p+raS73f10SUsk/aOZvSYmd/+8uy9w9wUzZsyIIVQAAIBk9fb2anBwUJI0ODioTZs2JRwR0Lqy/PcYZ4K3S9IZZcun67VdMK+X9EVJcvfNko6TND3GmAAAAFKps7NT7e3BHaza29vV1dWVcERA68ry32OcCd63JJ1lZm8ysykKJlF5oGqdnZIulSQz+3kFCR59MAEAQMspFotqawtOzdra2jJ3c2UgT7L89xhbgufug5JulLRe0lMKZsvcZmafMrN3h6t9WNLvm9l3Jf2LpPe7e3U3TgAAgNwrFAq67LLLZGZauHChTjnllKRDAlpWoVDQhRdeKEm66KKLMvX32B7nxt19nYLJU8of+0TZ79+XdEGcMQAAAGRFsVhUf39/pqoFSSqVSlq5cqU++tGPZuoEHIhTrDc6BwAAQO0KhYJWrVpFslKjrN6nDOlXKpX0yCOPSJIeeeQRbpMAAMiGUqmk5cuXZ+qLCwCkbN+nDOnX09NzbBbNI0eOZOoiAgkeALQwrn4D6cJFl9pl+T5lSL9NmzZpeGoQd9dDDz2UcES1I8EDgBbF1W8gfbjoUrss36cM6Vd97+2ZM2cmFEl0JHgA0KK4+g2kCxddosnyfcqQfnv2VN65bffu3QlFEh0JHgC0KK5+A+nCRZdosnyfMqRfV1eXzEySZGa69NJLE46odiR4ANCiuPoNpAsXXaLhvoGIU7FYrPiOzNIFBBI8AGhRXP0G0oWLLtEVi0Wdc845HL/QcIVCQQsXLpSZ6fLLL8/UBQQSPABoUVz9BtKlWCxWdNEkaRkf9w1EnLJ6AYEEDwBaWFa/vJLENPYA0BqyegGBBA8AWlhWv7ySxDT2iEtPT0/FpA58xgBMBAkekHJUC4D0YBp7xKm3t1dHjx6VJB09epRJVgBMCAkekHJUC4D0YBp7xIlJVgA0AgkekGJUC4B0YRp7xImZbQE0AgkekGJUC4B0ocKCODGzLYBGIMEDUoxqAZAuVFgQN2a2BVAvEjwgxagWAOlChQVxY2ZbAPUiwQNSjGoB4sYsrdFRYQEApBkJHpBiVAsQN2ZpjY4KCwAgzUjwgJSjWhANFanaMUsrAAD5Q4LXAJxQIk5UC6KhIlU7ZmkFACB/SPAagBNKIB2oSEXDLK1A+nDRGEC9SPDqxAklkB5UpKJhllYgfbhoDKBeJHh14oQSSA8qUtEwSyuQLlw0BtAIJHh14oQSSA8qUtEwSyuQLlw0BtAIJHh14oQSSA8qUtExSyvixpiy2nHRGEAjkODViRNKID2oSEXHLK2IG2PKasdFYwCNQIJXJ04ogXShIgWkB2PKoikWizIzSVw0BjBxJHgNwAklkB5UpID0YExZNIVCQbNmzZIkzZo1i+MYgAkhwWsATigBAHgtxpRFUyqV9Oyzz0qSBgYGqHgCmBASPAC5woQOQHowpiyanp4eubskyd2peAKYEBI8ALnChA5AejARWTRUPAE0AgkegNxgQgcgXZiILBoqngAagQQPQG4woQOQPkxEVjsqngAagQSvARjzgzjx+aod3ZuA9GEistpR8UTcOKdoDSR4DcCYH8SJz1ft6N4EIOuoeCJOnFO0BhK8OjHmB3Hi8xUN3ZsAZB0VT8SFc4rWQYJXJ8b8REf3gNrx+YqmUCjowgsvlCRddNFFnCABABDinKJ1kODViTE/0dE9oHZ8vqJ79dVXK/4FAACcU7QSErw6MeYnGroHRMPnK5pSqaTHHntMkvToo4/y+QIAIMQ5ResgwasTY36ioXtANHy+ounu7q74fHV3dyccEQAA6cA5ResgwasTUxpHQ/eAaPh8RfPwww9XLPf29iYTCAAAKcM5ResgwWsApjSuHd0DouPzBQAAGoFzitZg7p50DJEsWLDAt2zZknQYmKBSqaTrrrtOhw8f1pQpU3T33XdzBQkNc/311+uZZ545tnzaaafpC1/4QoIRAQAANJ6ZbXX3BSM9RwUPTUX3AMSpelIVJlkBAACthgQPTUf3AMSlq6tLZiZJMjNdeumlCUcEAADQXCR4aLpCoaBVq1ZRvUPDFYvFijGeXEQAAACthgQPQG4UCgUtXLhQZqbLL7+ciwiIRalU0vLly+kCDCBzOH61BhI8ALlCF2DEraenR9u2beM+ngAyp7u7W08++ST3ic05EjwAuUIXYMSpVCpp48aNcndt2LCBq+AAMqNUKh27P+ymTZs4fuUYCR6AXKH7CeLU09OjoaEhSdLQ0BBVPACZ0d3dXXH8ooqXXyR4DcAJJZAedJ9DnHp7ezU4OChJGhwc1KZNmxKOCABq8/DDD1csD1fzkD8keA3ACSXixAWE2tF9DnHr7OysmKm1q6sr4YgAoDbDtxEabRn5QYJXJ04oETcuINSO7nOIW7FYVFtb8NXZ1tbGZD4AMuPiiy+uWL7kkkuSCQSxI8GrEyeU0VGRqh0XEKKh+xziVigUdNlll8nMtHDhQibzqQHHfCAdli5dWnGBaunSpQlHhLiQ4NWJE8roqEjVjgsI0XR2dh7rcmJmdJ9DLLgVRzQc84F0KBQK6uzslCR1dXVxgSrHSPDqxHiMaKhIRcMFhGgWL14sd5ckubuWLFmScETII27FUTuO+UC6LF26VG95y1uo3uUcCV6dGI8RDRWpaLiAEM19991XsbxmzZqEIgEgccyfCLq0Ik5coGoNJHh1YjxGNFSkouECQjRf/epXK5arp4QG0Fwc86OjSyuAepHgNQDjMWpHRSoaLiBEM9w9c7RlAM3FMT8aurQCaIRYEzwzW2RmT5tZn5l9ZJR13mtm3zezbWaWyctVlLtrR0UqOi4g1K56yufhweQAksExPxq6tAJohNgSPDObJOlOSYslnS3pWjM7u2qdsyTdIukCdz9H0h/HFQ/SgYpUdFxAqB1TQAPpwjE/Grq0AmiEOCt450rqc/cd7n5Y0r2Srqxa5/cl3enuL0iSu++OMZ7YMCA6msWLF+v1r389MxzWiM9X7ZgCGkgfeiHUji6tABohzgTvNEk/KVveFT5W7s2S3mxmj5rZN8xs0bsJsNEAACAASURBVEgbMrMbzGyLmW3Zs2dPTOFOHAOio3nwwQf105/+VOvWrUs6lEzg8xUNU0AD6UIvhNrRpRVAI8SZ4NkIj1XPeNAu6SxJl0i6VtLfm9lJr3mR++fdfYG7L5gxY0bDA60HA6Kjob2iob2i42QSQFbRpRVAI8SZ4O2SdEbZ8umSBkZY5353P+LuP5L0tIKELzMYEB0N7RUN7QUArYVhDNEwjAF4rTgTvG9JOsvM3mRmUyRdI+mBqnW+LKlTksxsuoIumztijKnhGBAdDe0VDe0FAK2FYQzRMIwBeK3YEjx3H5R0o6T1kp6S9EV332ZmnzKzd4errZdUMrPvS+qVdJO7l+KKKQ7nn39+xfI73vGOhCLJBgaQR0N7AUDroFt+NLQXMLJY74Pn7uvc/c3uPs/dbw0f+4S7PxD+7u7+IXc/291/wd3vjTMeJI8B5NHQXgCyji50taNbfjS0FzCyWBO8VrB58+aK5cceeyyhSLKBAeTR0F4Aso4udLWjW340tBcwMhK8OnV2dmrSpEmSpEmTJtGFrgbcEyka2gtAVtGFLhq65UdDewEjI8GrU7FYrEjwOAkfH9PYR0N7AcgqutBFQ7f8aGgvYGQkeHWiCx2ALGN8FOJEF7poOKeIhvYCRkaC1wB0oQOQVYyPQpzoQhcd5xTR0F7Aa5m7Jx1DJAsWLPAtW7YkHQYAZF6pVNJ1112nw4cPa8qUKbr77ru5Ao6G4jMGAPEws63uvmCk56jgAUCLYnwU4kYXOgBoPhI8ALnCmLLaMT4KzUAXOgBoLhI8ALnCmLLadXZ2yswkSWbG+CjEgpmAAaC5SPAA5EapVNKGDRvk7lq/fj1VvHEsXrxYw+Ow3V1LlixJOCIAAFAvEjwAudHT01PR5ZAq3tgefPDBigreunXrEo4IAADUiwSvARjzEw3tFQ3tVbtNmzZVVKQeeuihhCNKt97e3or2YgweAADZR4LXAIz5iYb2iob2qt2MGTMqlmfOnJlQJNnAPcqA9OGiXjS0F/BaJHh1Kh/zs2HDBg4w46C9oqG9otmzZ0/F8u7duxOKJBuKxaLa2oKvgba2NmY5BFKAi3rRdHd368knn1R3d3fSoQCpQYJXp/IxP0eOHOGAPA7aKxraK5rqCtSll16aUCTZwD3KgHQplUrauHEjF/VqVCqV1NvbKynook97jY+KZ2sgwasTY36iob2iob2iecc73lGxfMEFFyQUSXZwjzLEjRPK2vX09GhoaEiSNDQ0xEW9cXR3d1e0F1W88VEhbg0keHVizE80tFc0tFc0d911V8Xy6tWrE4okO7hHGeLGCWXtent7K2YCZuKjsX31q1+tWH744YeTCSQjqBC3DhK8OlWP8Xn++ecTiiQbGCMVDe0Vzc6dOyuW+/v7E4oEgMQJZVRMfBTNcA+X0ZZRiQpx6yDBq1N1ReXUU09NKJJs6OrqqrjvFmOkxkZ7RTN79uyK5Tlz5iQUCQCJE8qomPgomksuuaRiubOzM5lAMoIKcesgwasTFZZoisVixdVJvrzGRntFs2LFiorlm2++OaFIAEicUEZVKBR04YUXSpIuuugiuk6PY+nSpRUJ8dKlSxOOKN2oELcOErw6MalDNIVCQeedd54k6fzzz+fLaxyFQkEXXXSRJOniiy+mvcYxf/78Y1W8OXPmaO7cuQlHlH5MgBEdbVa7zs7Oil4InFCO79VXX5UkHT58OOFI0q9QKByr2nV1dfEdOQ4qxNFl9XjfnnQAaD0/+tGPJEk7duxIOBKk1erVq7V9+/YJvXb//v2SpMmTJ+umm26a0DbmzZunZcuWTei1WVM+AcaNN96YdDiZQJvVbvHixfr3f/93ScH4qCVLliQcUbqVSiU99thjkqSvf/3r2rdvH0nLOJYuXarnn3+e6l0Nhm+Ns27dOm6NU6OsHu+p4NVp+EA87NFHH00okmzo6+vTM888I0natWsXSd44SqWSvva1r0mSHnnkkcxdQUrC4OCgjj/+eL3+9a9POpTUYwKM6GizaO67776K5TVr1iQUSTYw7X90zAQcDbfGqV2Wj/dU8Oo0Y8aMipn7mMZ+bLfffnvF8m233faaqe3xMyNNUJClK0gTVU/1bLhqd8cddzQqnNzq6enR0aNHJUlHjx5tmc9XPVr1b3KiRprGfvny5QlFk360F+I2nBBjfFk+3o9bwbPAGc0IJouYZCUaprGPhgkKEKfe3t6KBI/P1/j4m4yGaeyjob2A9Mjy8X7cBM+Do8uXmxBLJjGNfTRMYx8NM14hTueff37FcvWkUXgt/iajYRr7aGgvID2yfLyvdQzeN8zsV2ONJKOYxj4aprGPhhmvgHThbzKa6okvmAhjbLQXkB5ZPt7XmuB1StpsZtvN7Htm9oSZfS/OwLKiUCho4cKFMjNdfvnlDPIdB9PYRzM845WZMeMVGm7z5s0Vy9WTRuG1+JuMrvwECeOjvRCnrE77n4QsH+9rPXosljRPUpekd0m6IvwXYkaiqFasWKGpU6dSvasRny/EJcvdT5LE32Ttenp6KhKWnp6ehCNKN9oLcSuf9h/je8c73iEzy9x9rmtN8D7t7v3lP5I+HWdgWcIUvdGcfPLJmjt3rk466aSkQ8kEPl+IS5a7nySJv8naZXmSgiTQXohTqVTShg0b5O5av349Vbwa3HXXXRoaGtLq1auTDiWSWhO8c8oXzKxd0q80Phy0gu7ubj355JPc3wdIWJa7nyAbqBJHQ3shTj09PRUXEKjija2vr+/Y7O/9/f2ZunfzmAmemd1iZgck/aKZvRT+HJD0vKT7mxIhcqVUKqm3t1eStGnTJq4eAQmjuyHiVCwWj800TZV4fFTVEadNmzYdu/WGu+uhhx5KOKJ0G+nezVkx5o3O3X2lpJVmdrukJyTNdfc/M7PZkt7YjACRL93d3RU3jezu7uYmrgCaavXq1dq+ffuEXz8wMCBJ6ujomNDr582bp2XLlk14/1lSKBQ0a9Ys7dy5U7NmzaJKPI7hqvq6deuoqqPhZsyYUXE/4pkzZyYYTfpl+d7NtXbRfIOkt0u6Jlw+IOnOWCJCrj388MMVy8PVPADJYMB9dK+88opeeeWVpMPIhFKppGeffVZSkBjTa2N8VNURlz179lQs7969O6FIsiHL924es4JX5lx3f5uZfVuS3P0FM5sSY1zIqeGuOqMtA2ieUqmkjRs3yt21YcMGFYvFlqgY1Fs9u+mmmyRJd9xxRyPCybWenp6KLmE9PT268cYbE44q3YYn8QEaraurS+vWrZO7y8x06aWXJh1Sqq1YsaLieJWl2d9rreAdMbNJklySzGyGpKHYosoY7ilSu4svvrhi+ZJLLkkmEADq6emp6DJNFQ+NxqyQQHoUi8Vjk/hMnjyZKvE4snzv5loreH8r6T5JM83sVklXS/p4bFFlTHkXJ65Mjm3p0qXHBvWamZYuXZpwREDrGunkm2MYGqmzs1Pr16/X4OAgs0ICDVLPOOLhSXymTZumlStXRn59K40hloIq3ooVKzJVvZNqTPDc/Z/NbKukSyWZpPe4+1OxRpYRrdrFqR5mdqx7AIDkcPKNuBWLRW3cuFFSa80KWc8JOJP4RNPX16cVK1Zo1apVmaqwJKWtrU1tbW1MsFKj+fPna82aNUmHEVmtFTy5+w8k/SDGWDJppC5OXAEfXU9Pj9ra2nT06FGZGe0FJKhVT77RPMwKGR0T+ERz++2369ChQ7rtttt01113JR1OU9STwDOGuDXUnOBhZHRxiqa3t1dHjx6VJB09epT2AhLEyTeaoVgsqr+/v6UuIHAC3hwj3YiaKh5Q+yQrGEVnZ+exAat0cRof7QWkC1OyI27Ds0JyAQGNluUbUQNxIsGrU7FYPDZglS5O46O9gHTh5BtAVmX5RtTIhqzOlE+CV6fhLk5mRhenGtBeAACgEbJ8I2pkQ/lM+VnCGLwGaMXxBfVoxfZKckY1qfVmVQMA5F+Wb0SN9MvyTPkkeA0w3MUJtaG9omFGNQBJqucClcS0/4jP8I2od+7cmbkbUSP9sjxTPgke0ATMqAagVXGRCnHK6o2okX5ZnimfBC/ETUkBAHiter+fuEiFOGX1RtRonome4x933HE6dOhQxfLw8axWSZ3jk+A1QCtenSQhBgAAQF7NnDnz2OyZZqaZM2cmHFHtSPBCdKFrnlZMiAEAwMi4aIw41fP/WywWtW/fPr3zne/MTPdMiQQPE0RCDKQHs7QCaFVcNEacZs6cqVdeeSVzM7+T4AFAC+PkCEDSuGiMtJo8ebLmzZuXmdsjDCPBA4CM4+QIAAAMa0s6AAAAAABAY5DgAQAAAEBOkOABAAAAQE6Q4AEAAABATpDgAQAAAEBOkOABAAAAQE6Q4AEAAABATpDgAQAAAEBOxJrgmdkiM3vazPrM7CNjrHe1mbmZLYgzHgAAAADIs9gSPDObJOlOSYslnS3pWjM7e4T1TpD0h5IejysWAAAAAGgFcVbwzpXU5+473P2wpHslXTnCen8u6XZJr8QYCwAAAADkXpwJ3mmSflK2vCt87Bgze6ukM9x97VgbMrMbzGyLmW3Zs2dP4yMFAAAAgByIM8GzER7zY0+atUn6a0kfHm9D7v55d1/g7gtmzJjRwBABAAAAID/iTPB2STqjbPl0SQNlyydIeoukh83sx5LeLukBJloBAAAAgImJM8H7lqSzzOxNZjZF0jWSHhh+0t33u/t0dz/T3c+U9A1J73b3LTHGBAAAAAC5FVuC5+6Dkm6UtF7SU5K+6O7bzOxTZvbuuPYLAAAAAK2qPc6Nu/s6SeuqHvvEKOteEmcsAAAAAJB3sd7oHAAAAADQPC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yR4AAAAAJATJHgAAAAAkBMkeAAAAACQE+1JBwBkxerVq7V9+/am73fHjh2SpJtuuqnp+5akefPmadmyZYnsGwAAANGQ4AE12r59u57+wROaflKTdzwU/FN67okm71ja+2LTdwkAAIA6kOABEUw/Sbqq05IOo2nW9HrSIQAAACACEjwAsaBLKwAAQPPlKsHjhDIa2gtx2r59u576wfd0winN3e9gWHTctft7zd2xpAP7mr5LADFI6vtRSvY7ku9HIB9yleBt375d25/6gWafeHJT9zvlaDBI6sjA803dryTt3P/ChF+7fft29T31hE5/Q3O7HE4Oz8BfeebJpu5Xkna9RJfDZjrhFOncy5OOonm+uT7pCAA0wvbt2/XE0z/UpEJH0/c95JMkSd/f+3JT93u0NNDU/QGIT64SPEmafeLJ+tivLUw6jKa59esb6nr96W8w/fH5UxoUTfp9ZvPhpEMA0ABUWKKhvaKbVOjQ1Cs+0OCI0uvQ2s8lHQKABsldggcAWUSX6WiCCssPpMKJMUQ1Dj8qSXpi77PN3W9p/4RfGrTX07JTpjcwoNp42HHiyT2l5u53396m7g+IohWP+XQBbh4SPABIgeAE/ElperMr6oOSpCdK/9nk/UraW2dFvXCiJl1xYWNiyYCja79W1+vtlOmafMWVDYom/Y6svT/pEFoGFeLotm/frh8+tV2nnTi7wVGNrf1o8B1zaOBIU/f7zP6ddb2ehDgaEjwASIvpU2RXzko6iqbx+5tcAQMQi+3bt+vpp7frlEJzkxVJcg8Slj17m5uw7CvVl7BI0mknztYHL7ilAdGk32cfXVnX64N5Nn6o2Se8sUER1WbKYJsk6ciuA03d784Dz9X1ehI8AAAA1OWUwmwtueLjSYfRNOvWfjrpEFrO7BPeqFvOW5p0GE2x8vHuul7f1qA4AAAAAAAJI8EDAAAAgJwgwQMAAACAnCDBAwAAAICcIMEDAAAAgJwgwQMAAACAnCDBAwAAAICcIMEDAAAAgJwgwQMAAACAnCDBAwAAAICcIMEDAAAAgJwgwQMAAACAnCDBAwAAAICcIMEDAAAAgJwgwQMAAACAnCDBAwAAAICcIMEDAAAAgJxoTzqARhoYGNCh/S/p1q9vSDqUpunf/4Km6mjSYbSEgYEBHXhJWtPrSYfSNHtflF4dGkg6DAAAANQo1gTPzBZJ+htJkyT9vbv/ZdXzH5L0XyUNStojaam798cZEwAAwFgGBgZ09MDLOrT2c0mH0jRHSwMaOHz8hF47MDCglw4c0rq1n25wVOlVKvXryOGpSYfRMgYGBnTowEGtfLw76VCaov/As5o6cGDCr48twTOzSZLulHSZpF2SvmVmD7j798tW+7akBe5+yMz+X0m3S/qtie6zo6NDRzRJH/u1hfWEnim3fn2DJnecOqHXDgwM6NBLrs9sPtzgqNJr10uuqTaxilRHR4dKbSVd1WkNjiq91vS6Cm/sSDqMljAwMCAdOCy//9mkQ2mevYc18OrE/h6D9tqvo2u/1uCgUqz0ogYOT6wHwcDAgPylAzqy9v4GB5VeXtqrgSOvJh0GADRdnBW8cyX1ufsOSTKzeyVdKelYgufuvWXrf0PS78QYD4AmGu7S+s31SUfSPAf2SQODdGkFsq6jo0Mv7n1ZU6/4QNKhNM2htZ9Tx/SJVfA6Ojo0ee8RLbni4w2OKr3Wrf20ZkyfPOHXDwwM6OX9h/TZR1c2MKr0emZ/v47XxCueHR0dOjJ0QLect7SBUaXXyse7NbnjhAm/Ps4E7zRJPylb3iXpvDHWv17SgyM9YWY3SLpBkmbPnt2o+FpeR0eHXvF9+uPzpyQdStN8ZvNhHddBRQrp09HRoVLpoOzKWUmH0jR+/7PqKEzs77Gjo0OlvaZJV1zY4KjS6+jar6lj+sQ+Hx0dHdo3uaTJV1zZ4KjS68ja+9Uxo5B0GADQdHEmeCP1Yxuxb4mZ/Y6kBZIuHul5d/+8pM9L0oIFC1pnhgsgwzo6OjTUvlfnXp50JM3zzfVSx0wuIAAAxtbR0aFDOqIPXnBL0qE0xWcfXampHROveCKaOBO8XZLOKFs+XdJr+i6Z2a9L+piki92dzvIAAAAAMEFx3gfvW5LOMrM3mdkUSddIeqB8BTN7q6S7JL3b3XfHGAsAAAAA5F5sCZ67D0q6UdJ6SU9J+qK7bzOzT5nZu8PV7pA0TdK/mtl3zOyBUTYHAAAAABhHrPfBc/d1ktZVPfaJst9/Pc79AwAAAEAribOLJgAAAACgiUjwAAAAACAnSPAAAAAAICdI8AAAAAAgJ0jwAAAAACAnSPAAAAAAICdivU1CEnbuf0G3fn1DU/f5/MsHJEmnHn9CU/crBe93XsepTd8vAAAAgPTJVYI3b968RPZ7eMfLkqTJCSRa8zpOret973rJ9ZnNhxsY0fj2vOySpBnHW1P3KwXvd/5pTd8tAAAA0BS5SvCWLVuWyH5vuukmSdIdd9yRyP4nKqmE+MiOHZKk406b2/R9zz8tufcNAAAAxC1XCR6iISEGAAAA8oVJVgAAAAAgJ6jgARHsfVFa0+tN3ef+g8G/J05r6m4lBe+38Mbm7xcAAAATQ4IH1CipsXv7wzGLhTc2f8xi4Y2MWQQAAMnbeeA5rXy8u6n7fP5QSZJ06tRCU/e788BzmqeJz85PggfUiDGLiN3ew/L7n23uPvcPBv+emMDXwd7DUnO/M4GaHS0N6NDazzV9v0P790qS2k6c3tT9Hi0NSNPPauo+gVolN1P+HknS5NObeyu0eTqhrvdMggcAKZDUl9eO/UGFeG6h+RViFagQN5Pv26sja+9v/n5f2i9Jsjec2Nz97tsrzZjYFYQkP5c7XnpekjR3+vHN3fH0s/h7RGpxkT0aEjwASAG+vBCnRBOWA0GCN3eCydaEzShM+H0n9fcoZfdvcl9pp9at/XTT9/vS/iAhfsOJzb0X8b7STs2YTkKMdCLBAwAg50hYEKckLyAceOmwJGnG9MlN3e+M6fOoeCK1SPAAAAAwYVxAmJhn9u/UZx9d2dR97n05qHhOP765Fc9n9u/UWR0kxM1CggcAyKbSfh1d+7Xm7zepe5eU9kvTZzV3nwBikVT1b3BHUPGc2tHciudZHVQ8m4kED0BsDuyTvrm+ufs8dCD4d2pzJ7ySFLxfzWz+fltRspNghBPTNDvZmj6LEyQgJxh3jTiR4AGIRWKzQh4MTr5Pn5nArJAzmRWyWegSBgDAyEjwAMSCq5MAAADN15Z0AAAAAACAxi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MEDAAAAgJwgwQMAAACAnCDBAwAAAICciDXBM7NFZva0mfWZ2UdGeP51Zva/w+cfN7Mz44wHAAAAAPIstgTPzCZJulPSYklnS7rWzM6uWu16SS+4+3xJfy3ptrjiAQAAAIC8i7OCd66kPnff4e6HJd0r6cqqda6UdE/4+5ckXWpmFmNMAAAAAJBb5u7xbNjsakmL3P2/hsu/K+k8d7+xbJ0nw3V2hcvbw3X2jrbdBQsW+JYtWxoe7+rVq7V9+/YJvXbHjh2SpLlz507o9fPmzdOyZcsm9Nqk0F7RJNleUvbajPaKhvaKpp72klrvGEZ7Rcd3ZDS0VzS0VzR5bS8z2+ruC0Z6rj2WPYb7HeGx6myylnVkZjdIukGSZs+eXX9kDXbcccclHUKm0F7R0F7R0F7R0F7R0WbR0F7R0F7R0F7R0F7RZLW94qzgnS/pk+5+ebh8iyS5+8qyddaH62w2s3ZJz0ma4WMEFVcFDwAAAACyYKwKXpxj8L4l6Swze5OZTZF0jaQHqtZ5QNL7wt+vlrRprOQOAAAAADC62Lpouvugmd0oab2kSZK63X2bmX1K0hZ3f0DSFyT9o5n1SdqnIAkEAAAAAExAnGPw5O7rJK2reuwTZb+/Iuk344wBAAAAAFpFrDc6BwAAAAA0DwkeAAAAAOQECR4AAAAA5AQJHgAAAADkBAkeAAAAAOQECR4AAAAA5AQJHgAAAADkBAkeAAAAAOQECR4AAAAA5AQJHgAAAADkBAkeAAAAAOQECR4AAAAA5IS5e9IxRGJmeyT1Jx3HCKZL2pt0EBlCe0VDe0VDe0VDe0VHm0VDe0VDe0VDe0VDe0WT1vaa4+4zRnoicwleWpnZFndfkHQcWUF7RUN7RUN7RUN7RUebRUN7RUN7RUN7RUN7RZPF9qKLJgAAAADkBAkeAAAAAOQECV7jfD7pADKG9oqG9oqG9oqG9oqONouG9oqG9oqG9oqG9oomc+3FGDwAAAAAyAkqeAAAAACQEyR4AAAAAJATJHijMLMzzKzXzJ4ys21m9kfh46eY2UYz+2H478nh42Zmf2tmfWb2PTN7W9m2jprZd8KfB5J6T3FqcHvNNrMN4ba+b2ZnJvOu4tOo9jKzzrLP1nfM7BUze0+S7y0uDf6M3R5u46lwHUvqfcWlwe11m5k9Gf78VlLvKU4TaK//YmabzexVM1teta1FZvZ02JYfSeL9xK3B7dVtZrvN7Mkk3kszNKq9RttO3jSwvY4zs2+a2XfD7fxZUu8pTo38ewyfn2Rm3zaztc1+L83Q4OPXj83sCQvOwbYk8X5G5O78jPAjaZakt4W/nyDpPyWdLel2SR8JH/+IpNvC35dIelCSSXq7pMfLtnUw6feTsfZ6WNJl4e/TJE1N+v2lub3KtnmKpH15bK9Gtpmkd0h6VNKk8GezpEuSfn8pbq93StooqV3S8ZK2SHpD0u8vBe01U9KvSrpV0vKy7UyStF3SXElTJH1X0tlJv7+0tlf43EWS3ibpyaTfV9rba7TtJP3+UtxeJmla+PtkSY9LenvS7y+t7VW2vQ9J6pG0Nun3lvb2kvRjSdOTfk/VP1TwRuHuz7r7/w1/PyDpKUmnSbpS0j3havdIGq6WXCnpHzzwDUknmdmsJoedmEa1l5mdLand3TeG2zro7oea+V6aIabP19WSHsxje0kNbTOXdJyCk+/XKfjSf75pb6RJGtheZ0v6qrsPuvvLChKWRU18K00Rtb3cfbe7f0vSkapNnSupz913uPthSfeG28iVBraX3P0RBRencqtR7TXGdnKlge3l7n4wXJwc/uRudsFG/j2a2ekKLuz9fRNCT0Qj2yutSPBqYEEXwbcquPJzqrs/KwUfEAVZvRR8MH5S9rJd+tlB9zgz22Jm37Ccdp8rV2d7vVnSi2a2JuwecIeZTWpW7ElowOdr2DWS/iXOWNOinjZz982SeiU9G/6sd/enmhN5Mur8jH1X0mIzm2pm0yV1SjqjOZEno8b2Gk0tf6u5Umd7tZxGtVfVdnKr3vYKuxt+R9JuSRvdnfYa22ckrZA0FFOIqdKA9nJJG8xsq5ndEFecUZHgjcPMpkn6N0l/7O4vjbXqCI8NXyWa7e4LJBUlfcbM5jU4zNRoQHu1S7pQ0nIF5fC5kt7f4DBTo0GfL4WVll+QtL6xEaZPvW1mZvMl/byk+9YYpwAABF5JREFU0xWceHeZ2UWNjzQd6m0vd98gaZ2kxxRcQNgsabDhgaZEhPYadRMjPJa7isGwBrRXS2lUe7VKuzfifbr7UXf/ZQXH/HPN7C2NjDFN6m0vM7tC0m5339rw4FKoQX9HF7j72yQtlvQHaTmfIMEbg5lNVvAf/8/uviZ8+PnhrnHhv7vDx3ep8qr26ZIGJMndh//doWB82VtjDz4BDWqvXZK+HXZvGpT0ZQVjM3KnUZ+v0Hsl3efumek+MBENarPfkPSNsPvvQQXjzt7ejPibrYHHsFvd/Zfd/TIFCcwPmxF/s0Vsr9GM97eaGw1qr5bRqPYaZTu50+jPl7u/qOAcLHddzKWGtdcFkt5tZj9W0L28y8z+KaaQE9Woz1fZOf5uSfcp6KafOBK8UZiZSfqCpKfc/a/KnnpA0vvC398n6f6yx3/PAm+XtN/dnzWzk83sdeE2pyv44/l+U95EEzWqvSR9S9LJZjYjXK9LtNfw4yO117BrlfPumQ1ss52SLjaz9vAAf7GC/ve50sBj2CQzK4Tb/EVJvyhpQ1PeRBNNoL1G8y1JZ5nZm8xsioKu07mbPbmB7dUSGtVeY2wnVxrYXjPM7KTw99dL+nVJP2h8xMlqVHu5+//f3t37XjLFcRx/H0IkQoFCofiFRiUSNBvxUCBZ/wAJDZ0/QGyIXqOQkOg0okVJ1kNlFZa1a1UkJKJQEKGychR3NhHZh8IydyevV3Jz586cTM755mbmfu7MPffInPOWOedBu2PXB3POJ/6DLq/qEr6/rh1jXHd2uXq42o/ZgOcezPSyj4/q3na31XxZfbE8Dlc3VkfbfYN9tLphaT+qV9vNnnayuntZf2h5fWJ5fnrtse1zvZZtDy37OVm9UV299vj2vF4H1Q/VFWuP63KoWbtZDl9vF+pOVy+vPbY9r9c1S51OV8eqO9ce257U6+Z2V+t+rX5Zlq9fth1uNyvbN9Xza4/tMqjXW+1+D/vHsn5z58lLVa/z7Wft8e1xve6oPl/2c6p6ce2x7XO9/rHPB9ruLJqX6v11a7vP9yeqr/bpeD+WjgMAAHCZc4smAADARgh4AAAAGyHgAQAAbISABwAAsBECHgAAwEYIeADwL4wxflu7DwBwloAHABex/AG8cyYAe8/JCgDOYYxxMMb4eozxWnW8enKMcXKMcWqM8dI52t80xvhkjPHo/99bANjxR+cAcA5jjIPq2+pQ9X11rLqr+rl6r3plzvn2covmbdW71QtzzvdX6TAA5AoeAFzId3POY9U91Udzzp/mnGeqN6v7ljZXVUerZ4U7ANYm4AHA+f2+PI8LtDlTfVY98t93BwAuTMADgIv7tLp/+Z3dldXj1cfLtlk9Vd0+xnhurQ4CQAl4AHBRc84fqyPVh9WJ6vic852/bf+zeqx6cIzxzDq9BACTrAAAAGyGK3gAAAAbIeABAABshIAHAACwEQIeAADARgh4AAAAGyHgAQAAbISABwAAsBF/ATM4IT0tKfj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8" name="pole tekstowe 7"/>
          <p:cNvSpPr txBox="1"/>
          <p:nvPr/>
        </p:nvSpPr>
        <p:spPr>
          <a:xfrm>
            <a:off x="428596" y="857238"/>
            <a:ext cx="771530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0000"/>
            <a:r>
              <a:rPr lang="en-US" sz="1200" b="1" dirty="0" smtClean="0"/>
              <a:t>Based on final scores we see that: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200" dirty="0" smtClean="0"/>
              <a:t>naive model have been beaten by all models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200" dirty="0" smtClean="0"/>
              <a:t>ARMA approach without additional exogenous variables was better than naive model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200" dirty="0" smtClean="0"/>
              <a:t>OLS approach without additional time-related exogenous variables was better than naive model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200" dirty="0" smtClean="0"/>
              <a:t>when we combined both approaches: static exogenous variables + time-related exogenous variables in ARDL model we obtained better model!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200" dirty="0" smtClean="0"/>
              <a:t>our best SVR (</a:t>
            </a:r>
            <a:r>
              <a:rPr lang="en-US" sz="1200" dirty="0" err="1" smtClean="0"/>
              <a:t>rbf</a:t>
            </a:r>
            <a:r>
              <a:rPr lang="en-US" sz="1200" dirty="0" smtClean="0"/>
              <a:t>) was better than ARDL but only a little bit (insignificantly)</a:t>
            </a:r>
          </a:p>
          <a:p>
            <a:pPr indent="-180000">
              <a:buFont typeface="Arial" pitchFamily="34" charset="0"/>
              <a:buChar char="•"/>
            </a:pPr>
            <a:r>
              <a:rPr lang="en-US" sz="1200" dirty="0" smtClean="0"/>
              <a:t>our KNN outperformed all models!</a:t>
            </a:r>
            <a:endParaRPr lang="pl-PL" sz="1200" dirty="0" smtClean="0"/>
          </a:p>
          <a:p>
            <a:pPr indent="-180000"/>
            <a:endParaRPr lang="pl-PL" sz="1200" dirty="0" smtClean="0"/>
          </a:p>
          <a:p>
            <a:pPr indent="-180000"/>
            <a:r>
              <a:rPr lang="pl-PL" sz="1200" b="1" dirty="0" smtClean="0"/>
              <a:t>We </a:t>
            </a:r>
            <a:r>
              <a:rPr lang="pl-PL" sz="1200" b="1" dirty="0" err="1" smtClean="0"/>
              <a:t>recommend</a:t>
            </a:r>
            <a:r>
              <a:rPr lang="pl-PL" sz="1200" b="1" dirty="0" smtClean="0"/>
              <a:t> </a:t>
            </a:r>
            <a:r>
              <a:rPr lang="pl-PL" sz="1200" b="1" dirty="0" err="1" smtClean="0"/>
              <a:t>in</a:t>
            </a:r>
            <a:r>
              <a:rPr lang="pl-PL" sz="1200" b="1" dirty="0" smtClean="0"/>
              <a:t> </a:t>
            </a:r>
            <a:r>
              <a:rPr lang="en-US" sz="1200" b="1" dirty="0" smtClean="0"/>
              <a:t>the </a:t>
            </a:r>
            <a:r>
              <a:rPr lang="en-US" sz="1200" b="1" smtClean="0"/>
              <a:t>business </a:t>
            </a:r>
            <a:r>
              <a:rPr lang="en-US" sz="1200" b="1" smtClean="0"/>
              <a:t>environment</a:t>
            </a:r>
            <a:r>
              <a:rPr lang="pl-PL" sz="1200" b="1" smtClean="0"/>
              <a:t> </a:t>
            </a:r>
            <a:r>
              <a:rPr lang="pl-PL" sz="1200" b="1" dirty="0" err="1" smtClean="0"/>
              <a:t>usage</a:t>
            </a:r>
            <a:r>
              <a:rPr lang="pl-PL" sz="1200" b="1" dirty="0" smtClean="0"/>
              <a:t> of </a:t>
            </a:r>
            <a:r>
              <a:rPr lang="en-US" sz="1200" b="1" dirty="0" smtClean="0"/>
              <a:t>ARDL</a:t>
            </a:r>
            <a:r>
              <a:rPr lang="pl-PL" sz="1200" b="1" dirty="0" smtClean="0"/>
              <a:t> model</a:t>
            </a:r>
            <a:r>
              <a:rPr lang="en-US" sz="1200" b="1" dirty="0" smtClean="0"/>
              <a:t>: cheaper - computational time</a:t>
            </a:r>
            <a:r>
              <a:rPr lang="pl-PL" sz="1200" b="1" dirty="0" smtClean="0"/>
              <a:t>, </a:t>
            </a:r>
            <a:r>
              <a:rPr lang="en-US" sz="1200" b="1" dirty="0" smtClean="0"/>
              <a:t>fully explainable and has less variables!</a:t>
            </a:r>
            <a:endParaRPr lang="pl-PL" sz="1200" b="1" dirty="0" smtClean="0"/>
          </a:p>
          <a:p>
            <a:pPr indent="-180000"/>
            <a:endParaRPr lang="pl-PL" sz="1200" b="1" dirty="0" smtClean="0"/>
          </a:p>
          <a:p>
            <a:pPr indent="-180000"/>
            <a:r>
              <a:rPr lang="pl-PL" sz="1200" b="1" dirty="0" err="1" smtClean="0"/>
              <a:t>Variables</a:t>
            </a:r>
            <a:r>
              <a:rPr lang="pl-PL" sz="1200" b="1" dirty="0" smtClean="0"/>
              <a:t> </a:t>
            </a:r>
            <a:r>
              <a:rPr lang="pl-PL" sz="1200" b="1" dirty="0" err="1" smtClean="0"/>
              <a:t>in</a:t>
            </a:r>
            <a:r>
              <a:rPr lang="pl-PL" sz="1200" b="1" dirty="0" smtClean="0"/>
              <a:t> </a:t>
            </a:r>
            <a:r>
              <a:rPr lang="pl-PL" sz="1200" b="1" dirty="0" err="1" smtClean="0"/>
              <a:t>final</a:t>
            </a:r>
            <a:r>
              <a:rPr lang="pl-PL" sz="1200" b="1" dirty="0" smtClean="0"/>
              <a:t> ARDL model:</a:t>
            </a:r>
            <a:endParaRPr lang="pl-PL" sz="1200" dirty="0" smtClean="0"/>
          </a:p>
          <a:p>
            <a:pPr indent="-180000"/>
            <a:r>
              <a:rPr lang="en-US" sz="1200" dirty="0" smtClean="0"/>
              <a:t>log(revenue of a company/total assets), control foreign companies by a company, </a:t>
            </a:r>
            <a:r>
              <a:rPr lang="en-US" sz="1200" dirty="0" err="1" smtClean="0"/>
              <a:t>etr_MA</a:t>
            </a:r>
            <a:r>
              <a:rPr lang="en-US" sz="1200" dirty="0" smtClean="0"/>
              <a:t>(2),  (statutory tax rate - effective tax rate)_positive, total tax expenses of a company (levels: (-34.811, 0.488], (0.488, 24.415], (308.55, 327.531]), </a:t>
            </a:r>
          </a:p>
          <a:p>
            <a:pPr indent="-180000"/>
            <a:r>
              <a:rPr lang="en-US" sz="1200" dirty="0" smtClean="0"/>
              <a:t>pre-tax income of a company (level: (7875.5, 8108.5]), statutory tax rate of a company (level: (0.28, </a:t>
            </a:r>
            <a:r>
              <a:rPr lang="en-US" sz="1200" dirty="0" err="1" smtClean="0"/>
              <a:t>inf</a:t>
            </a:r>
            <a:r>
              <a:rPr lang="en-US" sz="1200" dirty="0" smtClean="0"/>
              <a:t>]), long term debt of a company (level: (176.129, 200.9])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3566846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1186</Words>
  <Application>Microsoft Office PowerPoint</Application>
  <PresentationFormat>Pokaz na ekranie (16:9)</PresentationFormat>
  <Paragraphs>225</Paragraphs>
  <Slides>15</Slides>
  <Notes>11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16" baseType="lpstr">
      <vt:lpstr>Motyw pakietu Office</vt:lpstr>
      <vt:lpstr>Forecasting tax avoidance rates by international listed companies - using shallow Machine Learning techniques</vt:lpstr>
      <vt:lpstr>Agenda</vt:lpstr>
      <vt:lpstr> Introduction - problem description</vt:lpstr>
      <vt:lpstr>Materials and methods - dataset description </vt:lpstr>
      <vt:lpstr>Materials and methods - dataset description </vt:lpstr>
      <vt:lpstr>Materials and methods - general methodology of research</vt:lpstr>
      <vt:lpstr>Machine learning journey</vt:lpstr>
      <vt:lpstr>Exploratory Data Analysis</vt:lpstr>
      <vt:lpstr>Exploratory Data Analysis</vt:lpstr>
      <vt:lpstr>Exploratory Data Analysis</vt:lpstr>
      <vt:lpstr>Feature engineering</vt:lpstr>
      <vt:lpstr>Feature selection</vt:lpstr>
      <vt:lpstr>Modeling – main approach</vt:lpstr>
      <vt:lpstr>Final results and conclusions</vt:lpstr>
      <vt:lpstr>Final results and conclusions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Michał Woźniak</dc:creator>
  <cp:lastModifiedBy>Użytkownik systemu Windows</cp:lastModifiedBy>
  <cp:revision>1544</cp:revision>
  <dcterms:created xsi:type="dcterms:W3CDTF">2020-03-22T10:51:18Z</dcterms:created>
  <dcterms:modified xsi:type="dcterms:W3CDTF">2020-06-03T11:18:00Z</dcterms:modified>
</cp:coreProperties>
</file>